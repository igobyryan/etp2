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a:latin typeface="+mj-lt"/>
        <a:ea typeface="+mj-ea"/>
        <a:cs typeface="+mj-cs"/>
        <a:sym typeface="Calibri"/>
      </a:defRPr>
    </a:lvl1pPr>
    <a:lvl2pPr indent="228600" latinLnBrk="0">
      <a:defRPr>
        <a:latin typeface="+mj-lt"/>
        <a:ea typeface="+mj-ea"/>
        <a:cs typeface="+mj-cs"/>
        <a:sym typeface="Calibri"/>
      </a:defRPr>
    </a:lvl2pPr>
    <a:lvl3pPr indent="457200" latinLnBrk="0">
      <a:defRPr>
        <a:latin typeface="+mj-lt"/>
        <a:ea typeface="+mj-ea"/>
        <a:cs typeface="+mj-cs"/>
        <a:sym typeface="Calibri"/>
      </a:defRPr>
    </a:lvl3pPr>
    <a:lvl4pPr indent="685800" latinLnBrk="0">
      <a:defRPr>
        <a:latin typeface="+mj-lt"/>
        <a:ea typeface="+mj-ea"/>
        <a:cs typeface="+mj-cs"/>
        <a:sym typeface="Calibri"/>
      </a:defRPr>
    </a:lvl4pPr>
    <a:lvl5pPr indent="914400" latinLnBrk="0">
      <a:defRPr>
        <a:latin typeface="+mj-lt"/>
        <a:ea typeface="+mj-ea"/>
        <a:cs typeface="+mj-cs"/>
        <a:sym typeface="Calibri"/>
      </a:defRPr>
    </a:lvl5pPr>
    <a:lvl6pPr indent="1143000" latinLnBrk="0">
      <a:defRPr>
        <a:latin typeface="+mj-lt"/>
        <a:ea typeface="+mj-ea"/>
        <a:cs typeface="+mj-cs"/>
        <a:sym typeface="Calibri"/>
      </a:defRPr>
    </a:lvl6pPr>
    <a:lvl7pPr indent="1371600" latinLnBrk="0">
      <a:defRPr>
        <a:latin typeface="+mj-lt"/>
        <a:ea typeface="+mj-ea"/>
        <a:cs typeface="+mj-cs"/>
        <a:sym typeface="Calibri"/>
      </a:defRPr>
    </a:lvl7pPr>
    <a:lvl8pPr indent="1600200" latinLnBrk="0">
      <a:defRPr>
        <a:latin typeface="+mj-lt"/>
        <a:ea typeface="+mj-ea"/>
        <a:cs typeface="+mj-cs"/>
        <a:sym typeface="Calibri"/>
      </a:defRPr>
    </a:lvl8pPr>
    <a:lvl9pPr indent="1828800" latinLnBrk="0">
      <a:defRPr>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 name="Shape 24"/>
          <p:cNvSpPr/>
          <p:nvPr>
            <p:ph type="sldImg"/>
          </p:nvPr>
        </p:nvSpPr>
        <p:spPr>
          <a:prstGeom prst="rect">
            <a:avLst/>
          </a:prstGeom>
        </p:spPr>
        <p:txBody>
          <a:bodyPr/>
          <a:lstStyle/>
          <a:p>
            <a:pPr/>
          </a:p>
        </p:txBody>
      </p:sp>
      <p:sp>
        <p:nvSpPr>
          <p:cNvPr id="25" name="Shape 25"/>
          <p:cNvSpPr/>
          <p:nvPr>
            <p:ph type="body" sz="quarter" idx="1"/>
          </p:nvPr>
        </p:nvSpPr>
        <p:spPr>
          <a:prstGeom prst="rect">
            <a:avLst/>
          </a:prstGeom>
        </p:spPr>
        <p:txBody>
          <a:bodyPr/>
          <a:lstStyle/>
          <a:p>
            <a:pPr/>
            <a:r>
              <a:t>Set the scene before starting. The room should know this is a community mapping session before the first slide. Brief introductions if participants don't know each other.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62"/>
          <p:cNvSpPr/>
          <p:nvPr>
            <p:ph type="sldImg"/>
          </p:nvPr>
        </p:nvSpPr>
        <p:spPr>
          <a:prstGeom prst="rect">
            <a:avLst/>
          </a:prstGeom>
        </p:spPr>
        <p:txBody>
          <a:bodyPr/>
          <a:lstStyle/>
          <a:p>
            <a:pPr/>
          </a:p>
        </p:txBody>
      </p:sp>
      <p:sp>
        <p:nvSpPr>
          <p:cNvPr id="63" name="Shape 63"/>
          <p:cNvSpPr/>
          <p:nvPr>
            <p:ph type="body" sz="quarter" idx="1"/>
          </p:nvPr>
        </p:nvSpPr>
        <p:spPr>
          <a:prstGeom prst="rect">
            <a:avLst/>
          </a:prstGeom>
        </p:spPr>
        <p:txBody>
          <a:bodyPr/>
          <a:lstStyle/>
          <a:p>
            <a:pPr/>
            <a:r>
              <a:t>Transition slide. Brief pause. The last mapping session produced a diagram; now this session uses it. Don't re-explain the mapping process.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Shape 81"/>
          <p:cNvSpPr/>
          <p:nvPr>
            <p:ph type="sldImg"/>
          </p:nvPr>
        </p:nvSpPr>
        <p:spPr>
          <a:prstGeom prst="rect">
            <a:avLst/>
          </a:prstGeom>
        </p:spPr>
        <p:txBody>
          <a:bodyPr/>
          <a:lstStyle/>
          <a:p>
            <a:pPr/>
          </a:p>
        </p:txBody>
      </p:sp>
      <p:sp>
        <p:nvSpPr>
          <p:cNvPr id="82" name="Shape 82"/>
          <p:cNvSpPr/>
          <p:nvPr>
            <p:ph type="body" sz="quarter" idx="1"/>
          </p:nvPr>
        </p:nvSpPr>
        <p:spPr>
          <a:prstGeom prst="rect">
            <a:avLst/>
          </a:prstGeom>
        </p:spPr>
        <p:txBody>
          <a:bodyPr/>
          <a:lstStyle/>
          <a:p>
            <a:pPr/>
            <a:r>
              <a:t>The lever. Let the simplicity of it land; ten percent of the shoreline. Ask the room: does this feel too small to matter? Then move 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Shape 114"/>
          <p:cNvSpPr/>
          <p:nvPr>
            <p:ph type="sldImg"/>
          </p:nvPr>
        </p:nvSpPr>
        <p:spPr>
          <a:prstGeom prst="rect">
            <a:avLst/>
          </a:prstGeom>
        </p:spPr>
        <p:txBody>
          <a:bodyPr/>
          <a:lstStyle/>
          <a:p>
            <a:pPr/>
          </a:p>
        </p:txBody>
      </p:sp>
      <p:sp>
        <p:nvSpPr>
          <p:cNvPr id="115" name="Shape 115"/>
          <p:cNvSpPr/>
          <p:nvPr>
            <p:ph type="body" sz="quarter" idx="1"/>
          </p:nvPr>
        </p:nvSpPr>
        <p:spPr>
          <a:prstGeom prst="rect">
            <a:avLst/>
          </a:prstGeom>
        </p:spPr>
        <p:txBody>
          <a:bodyPr/>
          <a:lstStyle/>
          <a:p>
            <a:pPr/>
            <a:r>
              <a:t>Point to where the sanctuary sits in the diagram. The lever doesn't have to be large; it has to be in the right place.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p>
            <a:pPr/>
            <a:r>
              <a:t>This is the first sign of a virtuous cycle. Something small, done consistently, beginning to change the conditions around it. Trace the loop with your finger. Show how each step feeds the next. This is what a virtuous cycle looks like in motion.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 This second cycle comes out of the first. You don't plan it; you create conditions for it. Ask: 'What might a second cycle look like in your community's situation?'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a:r>
              <a:t>When the work is being carried out effectively and giving the community opportunities to learn about solutions, commitment increases.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Point out how the new virtuous cycle feeds back into the others and reinforces them.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Shape 296"/>
          <p:cNvSpPr/>
          <p:nvPr>
            <p:ph type="sldImg"/>
          </p:nvPr>
        </p:nvSpPr>
        <p:spPr>
          <a:prstGeom prst="rect">
            <a:avLst/>
          </a:prstGeom>
        </p:spPr>
        <p:txBody>
          <a:bodyPr/>
          <a:lstStyle/>
          <a:p>
            <a:pPr/>
          </a:p>
        </p:txBody>
      </p:sp>
      <p:sp>
        <p:nvSpPr>
          <p:cNvPr id="297" name="Shape 297"/>
          <p:cNvSpPr/>
          <p:nvPr>
            <p:ph type="body" sz="quarter" idx="1"/>
          </p:nvPr>
        </p:nvSpPr>
        <p:spPr>
          <a:prstGeom prst="rect">
            <a:avLst/>
          </a:prstGeom>
        </p:spPr>
        <p:txBody>
          <a:bodyPr/>
          <a:lstStyle/>
          <a:p>
            <a:pPr/>
            <a:r>
              <a:t>You cannot plan for everything that will create new virtuous cycles, but it will happen naturally if you direct gains from the success back into new efforts to serve the community.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This is a later-stage cycle; it couldn't have been planned at the start. Name that: each new virtuous cycle is a sign that recovery is deepening, not that the original plan was finished.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Shape 372"/>
          <p:cNvSpPr/>
          <p:nvPr>
            <p:ph type="sldImg"/>
          </p:nvPr>
        </p:nvSpPr>
        <p:spPr>
          <a:prstGeom prst="rect">
            <a:avLst/>
          </a:prstGeom>
        </p:spPr>
        <p:txBody>
          <a:bodyPr/>
          <a:lstStyle/>
          <a:p>
            <a:pPr/>
          </a:p>
        </p:txBody>
      </p:sp>
      <p:sp>
        <p:nvSpPr>
          <p:cNvPr id="373" name="Shape 373"/>
          <p:cNvSpPr/>
          <p:nvPr>
            <p:ph type="body" sz="quarter" idx="1"/>
          </p:nvPr>
        </p:nvSpPr>
        <p:spPr>
          <a:prstGeom prst="rect">
            <a:avLst/>
          </a:prstGeom>
        </p:spPr>
        <p:txBody>
          <a:bodyPr/>
          <a:lstStyle/>
          <a:p>
            <a:pPr/>
            <a:r>
              <a:t>The key image before moving to Rajasthan: the system that made things worse is the same system, rearranged, that makes things better. Same structure. Direction changed.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Shape 379"/>
          <p:cNvSpPr/>
          <p:nvPr>
            <p:ph type="sldImg"/>
          </p:nvPr>
        </p:nvSpPr>
        <p:spPr>
          <a:prstGeom prst="rect">
            <a:avLst/>
          </a:prstGeom>
        </p:spPr>
        <p:txBody>
          <a:bodyPr/>
          <a:lstStyle/>
          <a:p>
            <a:pPr/>
          </a:p>
        </p:txBody>
      </p:sp>
      <p:sp>
        <p:nvSpPr>
          <p:cNvPr id="380" name="Shape 380"/>
          <p:cNvSpPr/>
          <p:nvPr>
            <p:ph type="body" sz="quarter" idx="1"/>
          </p:nvPr>
        </p:nvSpPr>
        <p:spPr>
          <a:prstGeom prst="rect">
            <a:avLst/>
          </a:prstGeom>
        </p:spPr>
        <p:txBody>
          <a:bodyPr/>
          <a:lstStyle/>
          <a:p>
            <a:pPr/>
            <a:r>
              <a:t>Brief transition. Don't dwell. The point is that complexity is normal; a more tangled situation doesn't mean the lever isn't there. Move on quickly.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Shape 433"/>
          <p:cNvSpPr/>
          <p:nvPr>
            <p:ph type="sldImg"/>
          </p:nvPr>
        </p:nvSpPr>
        <p:spPr>
          <a:prstGeom prst="rect">
            <a:avLst/>
          </a:prstGeom>
        </p:spPr>
        <p:txBody>
          <a:bodyPr/>
          <a:lstStyle/>
          <a:p>
            <a:pPr/>
          </a:p>
        </p:txBody>
      </p:sp>
      <p:sp>
        <p:nvSpPr>
          <p:cNvPr id="434" name="Shape 434"/>
          <p:cNvSpPr/>
          <p:nvPr>
            <p:ph type="body" sz="quarter" idx="1"/>
          </p:nvPr>
        </p:nvSpPr>
        <p:spPr>
          <a:prstGeom prst="rect">
            <a:avLst/>
          </a:prstGeom>
        </p:spPr>
        <p:txBody>
          <a:bodyPr/>
          <a:lstStyle/>
          <a:p>
            <a:pPr/>
            <a:r>
              <a:t>Don't walk through every connection. Point to the diagram as a whole. Then trace one loop to show how cycles feed each other. The idea to land: same structure, more cycles.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Shape 494"/>
          <p:cNvSpPr/>
          <p:nvPr>
            <p:ph type="sldImg"/>
          </p:nvPr>
        </p:nvSpPr>
        <p:spPr>
          <a:prstGeom prst="rect">
            <a:avLst/>
          </a:prstGeom>
        </p:spPr>
        <p:txBody>
          <a:bodyPr/>
          <a:lstStyle/>
          <a:p>
            <a:pPr/>
          </a:p>
        </p:txBody>
      </p:sp>
      <p:sp>
        <p:nvSpPr>
          <p:cNvPr id="495" name="Shape 495"/>
          <p:cNvSpPr/>
          <p:nvPr>
            <p:ph type="body" sz="quarter" idx="1"/>
          </p:nvPr>
        </p:nvSpPr>
        <p:spPr>
          <a:prstGeom prst="rect">
            <a:avLst/>
          </a:prstGeom>
        </p:spPr>
        <p:txBody>
          <a:bodyPr/>
          <a:lstStyle/>
          <a:p>
            <a:pPr/>
            <a:r>
              <a:t>They need to look at other spots where they can take action, and think about whether that action would be a powerful lever and workable for the community.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3" name="Shape 553"/>
          <p:cNvSpPr/>
          <p:nvPr>
            <p:ph type="sldImg"/>
          </p:nvPr>
        </p:nvSpPr>
        <p:spPr>
          <a:prstGeom prst="rect">
            <a:avLst/>
          </a:prstGeom>
        </p:spPr>
        <p:txBody>
          <a:bodyPr/>
          <a:lstStyle/>
          <a:p>
            <a:pPr/>
          </a:p>
        </p:txBody>
      </p:sp>
      <p:sp>
        <p:nvSpPr>
          <p:cNvPr id="554" name="Shape 554"/>
          <p:cNvSpPr/>
          <p:nvPr>
            <p:ph type="body" sz="quarter" idx="1"/>
          </p:nvPr>
        </p:nvSpPr>
        <p:spPr>
          <a:prstGeom prst="rect">
            <a:avLst/>
          </a:prstGeom>
        </p:spPr>
        <p:txBody>
          <a:bodyPr/>
          <a:lstStyle/>
          <a:p>
            <a:pPr/>
            <a:r>
              <a:t>Although men returning might set change in motion, on it’s own it is not powerful enough to set nature on the path to restoring itself.</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2" name="Shape 612"/>
          <p:cNvSpPr/>
          <p:nvPr>
            <p:ph type="sldImg"/>
          </p:nvPr>
        </p:nvSpPr>
        <p:spPr>
          <a:prstGeom prst="rect">
            <a:avLst/>
          </a:prstGeom>
        </p:spPr>
        <p:txBody>
          <a:bodyPr/>
          <a:lstStyle/>
          <a:p>
            <a:pPr/>
          </a:p>
        </p:txBody>
      </p:sp>
      <p:sp>
        <p:nvSpPr>
          <p:cNvPr id="613" name="Shape 613"/>
          <p:cNvSpPr/>
          <p:nvPr>
            <p:ph type="body" sz="quarter" idx="1"/>
          </p:nvPr>
        </p:nvSpPr>
        <p:spPr>
          <a:prstGeom prst="rect">
            <a:avLst/>
          </a:prstGeom>
        </p:spPr>
        <p:txBody>
          <a:bodyPr/>
          <a:lstStyle/>
          <a:p>
            <a:pPr/>
            <a:r>
              <a:t>An action needs to be workable and effective.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1" name="Shape 671"/>
          <p:cNvSpPr/>
          <p:nvPr>
            <p:ph type="sldImg"/>
          </p:nvPr>
        </p:nvSpPr>
        <p:spPr>
          <a:prstGeom prst="rect">
            <a:avLst/>
          </a:prstGeom>
        </p:spPr>
        <p:txBody>
          <a:bodyPr/>
          <a:lstStyle/>
          <a:p>
            <a:pPr/>
          </a:p>
        </p:txBody>
      </p:sp>
      <p:sp>
        <p:nvSpPr>
          <p:cNvPr id="672" name="Shape 672"/>
          <p:cNvSpPr/>
          <p:nvPr>
            <p:ph type="body" sz="quarter" idx="1"/>
          </p:nvPr>
        </p:nvSpPr>
        <p:spPr>
          <a:prstGeom prst="rect">
            <a:avLst/>
          </a:prstGeom>
        </p:spPr>
        <p:txBody>
          <a:bodyPr/>
          <a:lstStyle/>
          <a:p>
            <a:pPr/>
            <a:r>
              <a:t>The lever they found was workable, even if it took a lot of effort. It worked because it allowed nature to do the work (See </a:t>
            </a:r>
            <a:r>
              <a:rPr i="1"/>
              <a:t>Ingredients for success</a:t>
            </a:r>
            <a: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7" name="Shape 717"/>
          <p:cNvSpPr/>
          <p:nvPr>
            <p:ph type="sldImg"/>
          </p:nvPr>
        </p:nvSpPr>
        <p:spPr>
          <a:prstGeom prst="rect">
            <a:avLst/>
          </a:prstGeom>
        </p:spPr>
        <p:txBody>
          <a:bodyPr/>
          <a:lstStyle/>
          <a:p>
            <a:pPr/>
          </a:p>
        </p:txBody>
      </p:sp>
      <p:sp>
        <p:nvSpPr>
          <p:cNvPr id="718" name="Shape 718"/>
          <p:cNvSpPr/>
          <p:nvPr>
            <p:ph type="body" sz="quarter" idx="1"/>
          </p:nvPr>
        </p:nvSpPr>
        <p:spPr>
          <a:prstGeom prst="rect">
            <a:avLst/>
          </a:prstGeom>
        </p:spPr>
        <p:txBody>
          <a:bodyPr/>
          <a:lstStyle/>
          <a:p>
            <a:pPr/>
            <a:r>
              <a:t>Use the same color coding as the negative diagram; participants should see the same loops, now running in the other direction. Point to the lever node. Trace one loop to show the direction has changed. Same system. Different direction.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6" name="Shape 726"/>
          <p:cNvSpPr/>
          <p:nvPr>
            <p:ph type="sldImg"/>
          </p:nvPr>
        </p:nvSpPr>
        <p:spPr>
          <a:prstGeom prst="rect">
            <a:avLst/>
          </a:prstGeom>
        </p:spPr>
        <p:txBody>
          <a:bodyPr/>
          <a:lstStyle/>
          <a:p>
            <a:pPr/>
          </a:p>
        </p:txBody>
      </p:sp>
      <p:sp>
        <p:nvSpPr>
          <p:cNvPr id="727" name="Shape 727"/>
          <p:cNvSpPr/>
          <p:nvPr>
            <p:ph type="body" sz="quarter" idx="1"/>
          </p:nvPr>
        </p:nvSpPr>
        <p:spPr>
          <a:prstGeom prst="rect">
            <a:avLst/>
          </a:prstGeom>
        </p:spPr>
        <p:txBody>
          <a:bodyPr/>
          <a:lstStyle/>
          <a:p>
            <a:pPr/>
            <a:r>
              <a:t>Don't answer these questions for them. Let them sit with the diagram they built. If the room is quiet, that's fine. You're moving into brainstorming. This slide is the transition from example to their own problem.</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D5016"/>
        </a:solidFill>
      </p:bgPr>
    </p:bg>
    <p:spTree>
      <p:nvGrpSpPr>
        <p:cNvPr id="1" name=""/>
        <p:cNvGrpSpPr/>
        <p:nvPr/>
      </p:nvGrpSpPr>
      <p:grpSpPr>
        <a:xfrm>
          <a:off x="0" y="0"/>
          <a:ext cx="0" cy="0"/>
          <a:chOff x="0" y="0"/>
          <a:chExt cx="0" cy="0"/>
        </a:xfrm>
      </p:grpSpPr>
      <p:sp>
        <p:nvSpPr>
          <p:cNvPr id="20" name="Text 0"/>
          <p:cNvSpPr txBox="1"/>
          <p:nvPr/>
        </p:nvSpPr>
        <p:spPr>
          <a:xfrm>
            <a:off x="548640" y="1327149"/>
            <a:ext cx="8046719"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FFFFFF"/>
                </a:solidFill>
                <a:latin typeface="Georgia"/>
                <a:ea typeface="Georgia"/>
                <a:cs typeface="Georgia"/>
                <a:sym typeface="Georgia"/>
              </a:defRPr>
            </a:lvl1pPr>
          </a:lstStyle>
          <a:p>
            <a:pPr/>
            <a:r>
              <a:t>Apo Island</a:t>
            </a:r>
          </a:p>
        </p:txBody>
      </p:sp>
      <p:sp>
        <p:nvSpPr>
          <p:cNvPr id="21" name="Text 1"/>
          <p:cNvSpPr txBox="1"/>
          <p:nvPr/>
        </p:nvSpPr>
        <p:spPr>
          <a:xfrm>
            <a:off x="548640" y="2011679"/>
            <a:ext cx="8046719"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2200">
                <a:solidFill>
                  <a:srgbClr val="97BC62"/>
                </a:solidFill>
                <a:latin typeface="Georgia"/>
                <a:ea typeface="Georgia"/>
                <a:cs typeface="Georgia"/>
                <a:sym typeface="Georgia"/>
              </a:defRPr>
            </a:lvl1pPr>
          </a:lstStyle>
          <a:p>
            <a:pPr/>
            <a:r>
              <a:t>Reverse It: Finding the Lever</a:t>
            </a:r>
          </a:p>
        </p:txBody>
      </p:sp>
      <p:sp>
        <p:nvSpPr>
          <p:cNvPr id="22" name="Shape 2"/>
          <p:cNvSpPr/>
          <p:nvPr/>
        </p:nvSpPr>
        <p:spPr>
          <a:xfrm>
            <a:off x="548640" y="2606039"/>
            <a:ext cx="1371601" cy="1"/>
          </a:xfrm>
          <a:prstGeom prst="line">
            <a:avLst/>
          </a:prstGeom>
          <a:ln w="19050">
            <a:solidFill>
              <a:srgbClr val="4A7C59"/>
            </a:solidFill>
          </a:ln>
        </p:spPr>
        <p:txBody>
          <a:bodyPr lIns="45719" rIns="45719"/>
          <a:lstStyle/>
          <a:p>
            <a:pPr/>
          </a:p>
        </p:txBody>
      </p:sp>
      <p:sp>
        <p:nvSpPr>
          <p:cNvPr id="23" name="Text 3"/>
          <p:cNvSpPr txBox="1"/>
          <p:nvPr/>
        </p:nvSpPr>
        <p:spPr>
          <a:xfrm>
            <a:off x="548640" y="2788920"/>
            <a:ext cx="8046719"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i="1" sz="1500">
                <a:solidFill>
                  <a:srgbClr val="D5E8D4"/>
                </a:solidFill>
                <a:latin typeface="Georgia"/>
                <a:ea typeface="Georgia"/>
                <a:cs typeface="Georgia"/>
                <a:sym typeface="Georgia"/>
              </a:defRPr>
            </a:pPr>
            <a:r>
              <a:t>The community has mapped how things got worse.</a:t>
            </a:r>
          </a:p>
          <a:p>
            <a:pPr>
              <a:spcBef>
                <a:spcPts val="400"/>
              </a:spcBef>
              <a:defRPr sz="1500"/>
            </a:pPr>
          </a:p>
          <a:p>
            <a:pPr>
              <a:spcBef>
                <a:spcPts val="400"/>
              </a:spcBef>
              <a:defRPr i="1" sz="1500">
                <a:solidFill>
                  <a:srgbClr val="D5E8D4"/>
                </a:solidFill>
                <a:latin typeface="Georgia"/>
                <a:ea typeface="Georgia"/>
                <a:cs typeface="Georgia"/>
                <a:sym typeface="Georgia"/>
              </a:defRPr>
            </a:pPr>
            <a:r>
              <a:t>Now the question is: where could things change?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7" name="n9.png" descr="n9.png"/>
          <p:cNvPicPr>
            <a:picLocks noChangeAspect="1"/>
          </p:cNvPicPr>
          <p:nvPr/>
        </p:nvPicPr>
        <p:blipFill>
          <a:blip r:embed="rId3">
            <a:extLst/>
          </a:blip>
          <a:stretch>
            <a:fillRect/>
          </a:stretch>
        </p:blipFill>
        <p:spPr>
          <a:xfrm>
            <a:off x="33902" y="-71344"/>
            <a:ext cx="9076196" cy="5143501"/>
          </a:xfrm>
          <a:prstGeom prst="rect">
            <a:avLst/>
          </a:prstGeom>
          <a:ln w="12700">
            <a:miter lim="400000"/>
          </a:ln>
        </p:spPr>
      </p:pic>
      <p:sp>
        <p:nvSpPr>
          <p:cNvPr id="28"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29"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30" name="Text 8"/>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The fishing families of Apo Island had mapped their situation. Two vicious cycles, feeding each other. Somewhere in this system is the place where things could change.</a:t>
            </a:r>
          </a:p>
        </p:txBody>
      </p:sp>
      <p:pic>
        <p:nvPicPr>
          <p:cNvPr id="31"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34" name="Text 2"/>
          <p:cNvGrpSpPr/>
          <p:nvPr/>
        </p:nvGrpSpPr>
        <p:grpSpPr>
          <a:xfrm>
            <a:off x="2499359" y="746759"/>
            <a:ext cx="1645922" cy="777241"/>
            <a:chOff x="0" y="0"/>
            <a:chExt cx="1645920" cy="777240"/>
          </a:xfrm>
        </p:grpSpPr>
        <p:sp>
          <p:nvSpPr>
            <p:cNvPr id="32" name="Rectangle"/>
            <p:cNvSpPr/>
            <p:nvPr/>
          </p:nvSpPr>
          <p:spPr>
            <a:xfrm>
              <a:off x="-1" y="-1"/>
              <a:ext cx="1645922"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3" name="More use of destructive fishing"/>
            <p:cNvSpPr txBox="1"/>
            <p:nvPr/>
          </p:nvSpPr>
          <p:spPr>
            <a:xfrm>
              <a:off x="6349" y="238428"/>
              <a:ext cx="1633222"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use of destructive fishing</a:t>
              </a:r>
            </a:p>
          </p:txBody>
        </p:sp>
      </p:grpSp>
      <p:grpSp>
        <p:nvGrpSpPr>
          <p:cNvPr id="37" name="Text 3"/>
          <p:cNvGrpSpPr/>
          <p:nvPr/>
        </p:nvGrpSpPr>
        <p:grpSpPr>
          <a:xfrm>
            <a:off x="5547360" y="701039"/>
            <a:ext cx="1828801" cy="868682"/>
            <a:chOff x="0" y="0"/>
            <a:chExt cx="1828800" cy="868680"/>
          </a:xfrm>
        </p:grpSpPr>
        <p:sp>
          <p:nvSpPr>
            <p:cNvPr id="35" name="Oval"/>
            <p:cNvSpPr/>
            <p:nvPr/>
          </p:nvSpPr>
          <p:spPr>
            <a:xfrm>
              <a:off x="0" y="-1"/>
              <a:ext cx="1828800" cy="86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6" name="Less incentive for sustaining fishery"/>
            <p:cNvSpPr txBox="1"/>
            <p:nvPr/>
          </p:nvSpPr>
          <p:spPr>
            <a:xfrm>
              <a:off x="274171" y="28414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incentive for sustaining fishery</a:t>
              </a:r>
            </a:p>
          </p:txBody>
        </p:sp>
      </p:grpSp>
      <p:grpSp>
        <p:nvGrpSpPr>
          <p:cNvPr id="40" name="Text 4"/>
          <p:cNvGrpSpPr/>
          <p:nvPr/>
        </p:nvGrpSpPr>
        <p:grpSpPr>
          <a:xfrm>
            <a:off x="2407920" y="2707639"/>
            <a:ext cx="1828801" cy="914401"/>
            <a:chOff x="0" y="0"/>
            <a:chExt cx="1828800" cy="914400"/>
          </a:xfrm>
        </p:grpSpPr>
        <p:sp>
          <p:nvSpPr>
            <p:cNvPr id="38" name="Oval"/>
            <p:cNvSpPr/>
            <p:nvPr/>
          </p:nvSpPr>
          <p:spPr>
            <a:xfrm>
              <a:off x="0" y="0"/>
              <a:ext cx="1828800" cy="91440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9" name="More damaged coral habitat and less fish"/>
            <p:cNvSpPr txBox="1"/>
            <p:nvPr/>
          </p:nvSpPr>
          <p:spPr>
            <a:xfrm>
              <a:off x="274171" y="307008"/>
              <a:ext cx="1280458"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damaged coral habitat and less fish</a:t>
              </a:r>
            </a:p>
          </p:txBody>
        </p:sp>
      </p:grpSp>
      <p:grpSp>
        <p:nvGrpSpPr>
          <p:cNvPr id="43" name="Text 5"/>
          <p:cNvGrpSpPr/>
          <p:nvPr/>
        </p:nvGrpSpPr>
        <p:grpSpPr>
          <a:xfrm>
            <a:off x="5796279" y="2776220"/>
            <a:ext cx="1783080" cy="777241"/>
            <a:chOff x="0" y="0"/>
            <a:chExt cx="1783078" cy="777240"/>
          </a:xfrm>
        </p:grpSpPr>
        <p:sp>
          <p:nvSpPr>
            <p:cNvPr id="41" name="Rectangle"/>
            <p:cNvSpPr/>
            <p:nvPr/>
          </p:nvSpPr>
          <p:spPr>
            <a:xfrm>
              <a:off x="0" y="-1"/>
              <a:ext cx="1783079" cy="77724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2" name="Fishing further away from home"/>
            <p:cNvSpPr txBox="1"/>
            <p:nvPr/>
          </p:nvSpPr>
          <p:spPr>
            <a:xfrm>
              <a:off x="6350" y="238428"/>
              <a:ext cx="177037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Fishing further away from home</a:t>
              </a:r>
            </a:p>
          </p:txBody>
        </p:sp>
      </p:grpSp>
      <p:grpSp>
        <p:nvGrpSpPr>
          <p:cNvPr id="46" name="Text 6"/>
          <p:cNvGrpSpPr/>
          <p:nvPr/>
        </p:nvGrpSpPr>
        <p:grpSpPr>
          <a:xfrm>
            <a:off x="4084320" y="1760220"/>
            <a:ext cx="1463041" cy="731521"/>
            <a:chOff x="0" y="0"/>
            <a:chExt cx="1463040" cy="731520"/>
          </a:xfrm>
        </p:grpSpPr>
        <p:sp>
          <p:nvSpPr>
            <p:cNvPr id="44" name="Oval"/>
            <p:cNvSpPr/>
            <p:nvPr/>
          </p:nvSpPr>
          <p:spPr>
            <a:xfrm>
              <a:off x="-1" y="-1"/>
              <a:ext cx="146304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5" name="Fewer Fish"/>
            <p:cNvSpPr txBox="1"/>
            <p:nvPr/>
          </p:nvSpPr>
          <p:spPr>
            <a:xfrm>
              <a:off x="220607" y="298118"/>
              <a:ext cx="1021827"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Fewer Fish</a:t>
              </a:r>
            </a:p>
          </p:txBody>
        </p:sp>
      </p:grpSp>
      <p:grpSp>
        <p:nvGrpSpPr>
          <p:cNvPr id="49" name="Group"/>
          <p:cNvGrpSpPr/>
          <p:nvPr/>
        </p:nvGrpSpPr>
        <p:grpSpPr>
          <a:xfrm>
            <a:off x="459077" y="996551"/>
            <a:ext cx="1488797" cy="1269852"/>
            <a:chOff x="0" y="0"/>
            <a:chExt cx="1488795" cy="1269851"/>
          </a:xfrm>
        </p:grpSpPr>
        <p:pic>
          <p:nvPicPr>
            <p:cNvPr id="47" name="neg-lever.pngGoogle Shape;42;p3" descr="neg-lever.pngGoogle Shape;42;p3"/>
            <p:cNvPicPr>
              <a:picLocks noChangeAspect="1"/>
            </p:cNvPicPr>
            <p:nvPr/>
          </p:nvPicPr>
          <p:blipFill>
            <a:blip r:embed="rId5">
              <a:extLst/>
            </a:blip>
            <a:srcRect l="0" t="0" r="0" b="0"/>
            <a:stretch>
              <a:fillRect/>
            </a:stretch>
          </p:blipFill>
          <p:spPr>
            <a:xfrm>
              <a:off x="0" y="0"/>
              <a:ext cx="1488796" cy="1269852"/>
            </a:xfrm>
            <a:prstGeom prst="rect">
              <a:avLst/>
            </a:prstGeom>
            <a:ln w="12700" cap="flat">
              <a:noFill/>
              <a:miter lim="400000"/>
            </a:ln>
            <a:effectLst/>
          </p:spPr>
        </p:pic>
        <p:sp>
          <p:nvSpPr>
            <p:cNvPr id="48" name="Text 1"/>
            <p:cNvSpPr txBox="1"/>
            <p:nvPr/>
          </p:nvSpPr>
          <p:spPr>
            <a:xfrm>
              <a:off x="189928" y="200659"/>
              <a:ext cx="1108822" cy="86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FFFAF7"/>
                  </a:solidFill>
                </a:defRPr>
              </a:pPr>
              <a:r>
                <a:t>Introduction </a:t>
              </a:r>
              <a:br/>
              <a:r>
                <a:t>of Destructive Fishing Methods</a:t>
              </a:r>
            </a:p>
          </p:txBody>
        </p:sp>
      </p:grpSp>
      <p:grpSp>
        <p:nvGrpSpPr>
          <p:cNvPr id="61" name="Group"/>
          <p:cNvGrpSpPr/>
          <p:nvPr/>
        </p:nvGrpSpPr>
        <p:grpSpPr>
          <a:xfrm>
            <a:off x="128801" y="3034862"/>
            <a:ext cx="1456736" cy="1137993"/>
            <a:chOff x="0" y="0"/>
            <a:chExt cx="1456734" cy="1137992"/>
          </a:xfrm>
        </p:grpSpPr>
        <p:sp>
          <p:nvSpPr>
            <p:cNvPr id="50"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51"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54" name="Group"/>
            <p:cNvGrpSpPr/>
            <p:nvPr/>
          </p:nvGrpSpPr>
          <p:grpSpPr>
            <a:xfrm>
              <a:off x="98270" y="517072"/>
              <a:ext cx="662039" cy="149764"/>
              <a:chOff x="0" y="0"/>
              <a:chExt cx="662038" cy="149762"/>
            </a:xfrm>
          </p:grpSpPr>
          <p:sp>
            <p:nvSpPr>
              <p:cNvPr id="52"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3"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57" name="Group"/>
            <p:cNvGrpSpPr/>
            <p:nvPr/>
          </p:nvGrpSpPr>
          <p:grpSpPr>
            <a:xfrm>
              <a:off x="98270" y="778418"/>
              <a:ext cx="620336" cy="162258"/>
              <a:chOff x="0" y="0"/>
              <a:chExt cx="620335" cy="162257"/>
            </a:xfrm>
          </p:grpSpPr>
          <p:sp>
            <p:nvSpPr>
              <p:cNvPr id="55"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6"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60" name="Group"/>
            <p:cNvGrpSpPr/>
            <p:nvPr/>
          </p:nvGrpSpPr>
          <p:grpSpPr>
            <a:xfrm>
              <a:off x="98270" y="227254"/>
              <a:ext cx="980569" cy="163196"/>
              <a:chOff x="50800" y="24178"/>
              <a:chExt cx="980568" cy="163195"/>
            </a:xfrm>
          </p:grpSpPr>
          <p:sp>
            <p:nvSpPr>
              <p:cNvPr id="58"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59" name="neg-lever.pngGoogle Shape;42;p3" descr="neg-lever.pngGoogle Shape;42;p3"/>
              <p:cNvPicPr>
                <a:picLocks noChangeAspect="1"/>
              </p:cNvPicPr>
              <p:nvPr/>
            </p:nvPicPr>
            <p:blipFill>
              <a:blip r:embed="rId5">
                <a:extLst/>
              </a:blip>
              <a:srcRect l="0" t="0" r="0" b="0"/>
              <a:stretch>
                <a:fillRect/>
              </a:stretch>
            </p:blipFill>
            <p:spPr>
              <a:xfrm>
                <a:off x="50800" y="24178"/>
                <a:ext cx="190603" cy="162574"/>
              </a:xfrm>
              <a:prstGeom prst="rect">
                <a:avLst/>
              </a:prstGeom>
              <a:ln w="12700" cap="flat">
                <a:noFill/>
                <a:miter lim="400000"/>
              </a:ln>
              <a:effectLst/>
            </p:spPr>
          </p:pic>
        </p:gr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sp>
        <p:nvSpPr>
          <p:cNvPr id="65"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66"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67" name="Text 9"/>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The fishermen of Apo Island found their answer in the reef itself. A small no-fishing sanctuary along ten percent of the island's shoreline. That was the lever.</a:t>
            </a:r>
          </a:p>
        </p:txBody>
      </p:sp>
      <p:pic>
        <p:nvPicPr>
          <p:cNvPr id="68" name="ETP_Logo.svg" descr="ETP_Logo.svg"/>
          <p:cNvPicPr>
            <a:picLocks noChangeAspect="1"/>
          </p:cNvPicPr>
          <p:nvPr/>
        </p:nvPicPr>
        <p:blipFill>
          <a:blip r:embed="rId3">
            <a:extLst/>
          </a:blip>
          <a:stretch>
            <a:fillRect/>
          </a:stretch>
        </p:blipFill>
        <p:spPr>
          <a:xfrm>
            <a:off x="7912923" y="93416"/>
            <a:ext cx="1079386" cy="142352"/>
          </a:xfrm>
          <a:prstGeom prst="rect">
            <a:avLst/>
          </a:prstGeom>
          <a:ln w="12700">
            <a:miter lim="400000"/>
          </a:ln>
        </p:spPr>
      </p:pic>
      <p:grpSp>
        <p:nvGrpSpPr>
          <p:cNvPr id="77" name="Group"/>
          <p:cNvGrpSpPr/>
          <p:nvPr/>
        </p:nvGrpSpPr>
        <p:grpSpPr>
          <a:xfrm>
            <a:off x="88161" y="3788947"/>
            <a:ext cx="2494166" cy="445149"/>
            <a:chOff x="0" y="0"/>
            <a:chExt cx="2494165" cy="445147"/>
          </a:xfrm>
        </p:grpSpPr>
        <p:sp>
          <p:nvSpPr>
            <p:cNvPr id="69"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70"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71"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72"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73"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74"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75"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76" name="plus-lever.png" descr="plus-lever.png"/>
            <p:cNvPicPr>
              <a:picLocks noChangeAspect="1"/>
            </p:cNvPicPr>
            <p:nvPr/>
          </p:nvPicPr>
          <p:blipFill>
            <a:blip r:embed="rId4">
              <a:extLst/>
            </a:blip>
            <a:srcRect l="0" t="0" r="0" b="0"/>
            <a:stretch>
              <a:fillRect/>
            </a:stretch>
          </p:blipFill>
          <p:spPr>
            <a:xfrm>
              <a:off x="163928" y="230273"/>
              <a:ext cx="196516" cy="167616"/>
            </a:xfrm>
            <a:prstGeom prst="rect">
              <a:avLst/>
            </a:prstGeom>
            <a:ln w="12700" cap="flat">
              <a:noFill/>
              <a:miter lim="400000"/>
            </a:ln>
            <a:effectLst/>
          </p:spPr>
        </p:pic>
      </p:grpSp>
      <p:grpSp>
        <p:nvGrpSpPr>
          <p:cNvPr id="80" name="Group"/>
          <p:cNvGrpSpPr/>
          <p:nvPr/>
        </p:nvGrpSpPr>
        <p:grpSpPr>
          <a:xfrm>
            <a:off x="494244" y="1607224"/>
            <a:ext cx="1486879" cy="991792"/>
            <a:chOff x="0" y="0"/>
            <a:chExt cx="1486877" cy="991790"/>
          </a:xfrm>
        </p:grpSpPr>
        <p:pic>
          <p:nvPicPr>
            <p:cNvPr id="78" name="plus-lever.png" descr="plus-lever.png"/>
            <p:cNvPicPr>
              <a:picLocks noChangeAspect="0"/>
            </p:cNvPicPr>
            <p:nvPr/>
          </p:nvPicPr>
          <p:blipFill>
            <a:blip r:embed="rId4">
              <a:extLst/>
            </a:blip>
            <a:srcRect l="0" t="0" r="0" b="0"/>
            <a:stretch>
              <a:fillRect/>
            </a:stretch>
          </p:blipFill>
          <p:spPr>
            <a:xfrm>
              <a:off x="0" y="0"/>
              <a:ext cx="1486878" cy="991791"/>
            </a:xfrm>
            <a:prstGeom prst="rect">
              <a:avLst/>
            </a:prstGeom>
            <a:ln w="12700" cap="flat">
              <a:noFill/>
              <a:miter lim="400000"/>
            </a:ln>
            <a:effectLst/>
          </p:spPr>
        </p:pic>
        <p:sp>
          <p:nvSpPr>
            <p:cNvPr id="79"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84"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85" name="Rectangle"/>
          <p:cNvSpPr/>
          <p:nvPr/>
        </p:nvSpPr>
        <p:spPr>
          <a:xfrm>
            <a:off x="4470474" y="3259419"/>
            <a:ext cx="3693087" cy="1009787"/>
          </a:xfrm>
          <a:prstGeom prst="rect">
            <a:avLst/>
          </a:prstGeom>
          <a:solidFill>
            <a:srgbClr val="FFFAF7"/>
          </a:solidFill>
          <a:ln w="12700">
            <a:miter lim="400000"/>
          </a:ln>
        </p:spPr>
        <p:txBody>
          <a:bodyPr lIns="45719" rIns="45719" anchor="ctr"/>
          <a:lstStyle/>
          <a:p>
            <a:pPr>
              <a:defRPr b="1"/>
            </a:pPr>
          </a:p>
        </p:txBody>
      </p:sp>
      <p:sp>
        <p:nvSpPr>
          <p:cNvPr id="86" name="Rectangle"/>
          <p:cNvSpPr/>
          <p:nvPr/>
        </p:nvSpPr>
        <p:spPr>
          <a:xfrm>
            <a:off x="4206239" y="452093"/>
            <a:ext cx="3693087" cy="1770463"/>
          </a:xfrm>
          <a:prstGeom prst="rect">
            <a:avLst/>
          </a:prstGeom>
          <a:solidFill>
            <a:srgbClr val="FFFAF7"/>
          </a:solidFill>
          <a:ln w="12700">
            <a:miter lim="400000"/>
          </a:ln>
        </p:spPr>
        <p:txBody>
          <a:bodyPr lIns="45719" rIns="45719" anchor="ctr"/>
          <a:lstStyle/>
          <a:p>
            <a:pPr/>
          </a:p>
        </p:txBody>
      </p:sp>
      <p:sp>
        <p:nvSpPr>
          <p:cNvPr id="87" name="Rectangle"/>
          <p:cNvSpPr/>
          <p:nvPr/>
        </p:nvSpPr>
        <p:spPr>
          <a:xfrm>
            <a:off x="5542394" y="206632"/>
            <a:ext cx="2494167" cy="3935574"/>
          </a:xfrm>
          <a:prstGeom prst="rect">
            <a:avLst/>
          </a:prstGeom>
          <a:solidFill>
            <a:srgbClr val="FFFAF7"/>
          </a:solidFill>
          <a:ln w="12700">
            <a:miter lim="400000"/>
          </a:ln>
        </p:spPr>
        <p:txBody>
          <a:bodyPr lIns="45719" rIns="45719" anchor="ctr"/>
          <a:lstStyle/>
          <a:p>
            <a:pPr>
              <a:defRPr b="1"/>
            </a:pPr>
          </a:p>
        </p:txBody>
      </p:sp>
      <p:sp>
        <p:nvSpPr>
          <p:cNvPr id="88" name="Rectangle"/>
          <p:cNvSpPr/>
          <p:nvPr/>
        </p:nvSpPr>
        <p:spPr>
          <a:xfrm>
            <a:off x="2372359" y="528293"/>
            <a:ext cx="1849121" cy="1770463"/>
          </a:xfrm>
          <a:prstGeom prst="rect">
            <a:avLst/>
          </a:prstGeom>
          <a:solidFill>
            <a:srgbClr val="FFFAF7"/>
          </a:solidFill>
          <a:ln w="12700">
            <a:miter lim="400000"/>
          </a:ln>
        </p:spPr>
        <p:txBody>
          <a:bodyPr lIns="45719" rIns="45719" anchor="ctr"/>
          <a:lstStyle/>
          <a:p>
            <a:pPr/>
          </a:p>
        </p:txBody>
      </p:sp>
      <p:sp>
        <p:nvSpPr>
          <p:cNvPr id="89"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90"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91" name="Text 6"/>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Nature did the rest. Protected from fishing, the coral began to heal. Fish populations grew. As fish increased, the community's experience and commitment to protecting the reef grew with it.</a:t>
            </a:r>
          </a:p>
        </p:txBody>
      </p:sp>
      <p:pic>
        <p:nvPicPr>
          <p:cNvPr id="92"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101" name="Group"/>
          <p:cNvGrpSpPr/>
          <p:nvPr/>
        </p:nvGrpSpPr>
        <p:grpSpPr>
          <a:xfrm>
            <a:off x="88161" y="3788947"/>
            <a:ext cx="2494166" cy="445149"/>
            <a:chOff x="0" y="0"/>
            <a:chExt cx="2494165" cy="445147"/>
          </a:xfrm>
        </p:grpSpPr>
        <p:sp>
          <p:nvSpPr>
            <p:cNvPr id="93"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94"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95"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96"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97"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98"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99"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100" name="plus-lever.png" descr="plus-lever.png"/>
            <p:cNvPicPr>
              <a:picLocks noChangeAspect="1"/>
            </p:cNvPicPr>
            <p:nvPr/>
          </p:nvPicPr>
          <p:blipFill>
            <a:blip r:embed="rId5">
              <a:extLst/>
            </a:blip>
            <a:srcRect l="0" t="0" r="0" b="0"/>
            <a:stretch>
              <a:fillRect/>
            </a:stretch>
          </p:blipFill>
          <p:spPr>
            <a:xfrm>
              <a:off x="163928" y="230273"/>
              <a:ext cx="196516" cy="167616"/>
            </a:xfrm>
            <a:prstGeom prst="rect">
              <a:avLst/>
            </a:prstGeom>
            <a:ln w="12700" cap="flat">
              <a:noFill/>
              <a:miter lim="400000"/>
            </a:ln>
            <a:effectLst/>
          </p:spPr>
        </p:pic>
      </p:grpSp>
      <p:grpSp>
        <p:nvGrpSpPr>
          <p:cNvPr id="104" name="Group"/>
          <p:cNvGrpSpPr/>
          <p:nvPr/>
        </p:nvGrpSpPr>
        <p:grpSpPr>
          <a:xfrm>
            <a:off x="5050373" y="1492656"/>
            <a:ext cx="2592285" cy="1009787"/>
            <a:chOff x="0" y="0"/>
            <a:chExt cx="2592283" cy="1009786"/>
          </a:xfrm>
        </p:grpSpPr>
        <p:sp>
          <p:nvSpPr>
            <p:cNvPr id="102"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03"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107" name="Group"/>
          <p:cNvGrpSpPr/>
          <p:nvPr/>
        </p:nvGrpSpPr>
        <p:grpSpPr>
          <a:xfrm>
            <a:off x="2692399" y="3138285"/>
            <a:ext cx="1849121" cy="722548"/>
            <a:chOff x="0" y="0"/>
            <a:chExt cx="1849120" cy="722546"/>
          </a:xfrm>
        </p:grpSpPr>
        <p:sp>
          <p:nvSpPr>
            <p:cNvPr id="105"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06"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grpSp>
        <p:nvGrpSpPr>
          <p:cNvPr id="110" name="Group"/>
          <p:cNvGrpSpPr/>
          <p:nvPr/>
        </p:nvGrpSpPr>
        <p:grpSpPr>
          <a:xfrm>
            <a:off x="494244" y="1607224"/>
            <a:ext cx="1486879" cy="991792"/>
            <a:chOff x="0" y="0"/>
            <a:chExt cx="1486877" cy="991790"/>
          </a:xfrm>
        </p:grpSpPr>
        <p:pic>
          <p:nvPicPr>
            <p:cNvPr id="108" name="plus-lever.png" descr="plus-lever.png"/>
            <p:cNvPicPr>
              <a:picLocks noChangeAspect="0"/>
            </p:cNvPicPr>
            <p:nvPr/>
          </p:nvPicPr>
          <p:blipFill>
            <a:blip r:embed="rId5">
              <a:extLst/>
            </a:blip>
            <a:srcRect l="0" t="0" r="0" b="0"/>
            <a:stretch>
              <a:fillRect/>
            </a:stretch>
          </p:blipFill>
          <p:spPr>
            <a:xfrm>
              <a:off x="0" y="0"/>
              <a:ext cx="1486878" cy="991791"/>
            </a:xfrm>
            <a:prstGeom prst="rect">
              <a:avLst/>
            </a:prstGeom>
            <a:ln w="12700" cap="flat">
              <a:noFill/>
              <a:miter lim="400000"/>
            </a:ln>
            <a:effectLst/>
          </p:spPr>
        </p:pic>
        <p:sp>
          <p:nvSpPr>
            <p:cNvPr id="109"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grpSp>
        <p:nvGrpSpPr>
          <p:cNvPr id="113" name="Group"/>
          <p:cNvGrpSpPr/>
          <p:nvPr/>
        </p:nvGrpSpPr>
        <p:grpSpPr>
          <a:xfrm>
            <a:off x="2528084" y="1741846"/>
            <a:ext cx="1664672" cy="722548"/>
            <a:chOff x="0" y="0"/>
            <a:chExt cx="1664671" cy="722546"/>
          </a:xfrm>
        </p:grpSpPr>
        <p:sp>
          <p:nvSpPr>
            <p:cNvPr id="111"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12"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17"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118" name="Rectangle"/>
          <p:cNvSpPr/>
          <p:nvPr/>
        </p:nvSpPr>
        <p:spPr>
          <a:xfrm>
            <a:off x="4470474" y="3259419"/>
            <a:ext cx="3693087" cy="1009787"/>
          </a:xfrm>
          <a:prstGeom prst="rect">
            <a:avLst/>
          </a:prstGeom>
          <a:solidFill>
            <a:srgbClr val="FFFAF7"/>
          </a:solidFill>
          <a:ln w="12700">
            <a:miter lim="400000"/>
          </a:ln>
        </p:spPr>
        <p:txBody>
          <a:bodyPr lIns="45719" rIns="45719" anchor="ctr"/>
          <a:lstStyle/>
          <a:p>
            <a:pPr>
              <a:defRPr b="1"/>
            </a:pPr>
          </a:p>
        </p:txBody>
      </p:sp>
      <p:sp>
        <p:nvSpPr>
          <p:cNvPr id="119" name="Rectangle"/>
          <p:cNvSpPr/>
          <p:nvPr/>
        </p:nvSpPr>
        <p:spPr>
          <a:xfrm>
            <a:off x="2704847" y="452093"/>
            <a:ext cx="5194479" cy="1345177"/>
          </a:xfrm>
          <a:prstGeom prst="rect">
            <a:avLst/>
          </a:prstGeom>
          <a:solidFill>
            <a:srgbClr val="FFFAF7"/>
          </a:solidFill>
          <a:ln w="12700">
            <a:miter lim="400000"/>
          </a:ln>
        </p:spPr>
        <p:txBody>
          <a:bodyPr lIns="45719" rIns="45719" anchor="ctr"/>
          <a:lstStyle/>
          <a:p>
            <a:pPr/>
          </a:p>
        </p:txBody>
      </p:sp>
      <p:sp>
        <p:nvSpPr>
          <p:cNvPr id="120" name="Rectangle"/>
          <p:cNvSpPr/>
          <p:nvPr/>
        </p:nvSpPr>
        <p:spPr>
          <a:xfrm>
            <a:off x="5542394" y="206632"/>
            <a:ext cx="2494167" cy="3935574"/>
          </a:xfrm>
          <a:prstGeom prst="rect">
            <a:avLst/>
          </a:prstGeom>
          <a:solidFill>
            <a:srgbClr val="FFFAF7"/>
          </a:solidFill>
          <a:ln w="12700">
            <a:miter lim="400000"/>
          </a:ln>
        </p:spPr>
        <p:txBody>
          <a:bodyPr lIns="45719" rIns="45719" anchor="ctr"/>
          <a:lstStyle/>
          <a:p>
            <a:pPr>
              <a:defRPr b="1"/>
            </a:pPr>
          </a:p>
        </p:txBody>
      </p:sp>
      <p:sp>
        <p:nvSpPr>
          <p:cNvPr id="121"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22"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123" name="Text 7"/>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p>
            <a:pPr>
              <a:defRPr b="1" sz="1400">
                <a:solidFill>
                  <a:srgbClr val="FFFFFF"/>
                </a:solidFill>
              </a:defRPr>
            </a:pPr>
            <a:r>
              <a:t>That commitment fed back into everything. Less destructive fishing, a healthier reef and more fish.  </a:t>
            </a:r>
            <a:br/>
            <a:r>
              <a:t>The first virtuous cycle.</a:t>
            </a:r>
          </a:p>
        </p:txBody>
      </p:sp>
      <p:pic>
        <p:nvPicPr>
          <p:cNvPr id="124"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133" name="Group"/>
          <p:cNvGrpSpPr/>
          <p:nvPr/>
        </p:nvGrpSpPr>
        <p:grpSpPr>
          <a:xfrm>
            <a:off x="88161" y="3788947"/>
            <a:ext cx="2494166" cy="445149"/>
            <a:chOff x="0" y="0"/>
            <a:chExt cx="2494165" cy="445147"/>
          </a:xfrm>
        </p:grpSpPr>
        <p:sp>
          <p:nvSpPr>
            <p:cNvPr id="125"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26"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127"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28"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29"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130"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131"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132" name="plus-lever.png" descr="plus-lever.png"/>
            <p:cNvPicPr>
              <a:picLocks noChangeAspect="1"/>
            </p:cNvPicPr>
            <p:nvPr/>
          </p:nvPicPr>
          <p:blipFill>
            <a:blip r:embed="rId5">
              <a:extLst/>
            </a:blip>
            <a:srcRect l="0" t="0" r="0" b="0"/>
            <a:stretch>
              <a:fillRect/>
            </a:stretch>
          </p:blipFill>
          <p:spPr>
            <a:xfrm>
              <a:off x="163928" y="230273"/>
              <a:ext cx="196516" cy="167616"/>
            </a:xfrm>
            <a:prstGeom prst="rect">
              <a:avLst/>
            </a:prstGeom>
            <a:ln w="12700" cap="flat">
              <a:noFill/>
              <a:miter lim="400000"/>
            </a:ln>
            <a:effectLst/>
          </p:spPr>
        </p:pic>
      </p:grpSp>
      <p:grpSp>
        <p:nvGrpSpPr>
          <p:cNvPr id="136" name="Group"/>
          <p:cNvGrpSpPr/>
          <p:nvPr/>
        </p:nvGrpSpPr>
        <p:grpSpPr>
          <a:xfrm>
            <a:off x="2528084" y="1741846"/>
            <a:ext cx="1664672" cy="722548"/>
            <a:chOff x="0" y="0"/>
            <a:chExt cx="1664671" cy="722546"/>
          </a:xfrm>
        </p:grpSpPr>
        <p:sp>
          <p:nvSpPr>
            <p:cNvPr id="134"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35"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139" name="Group"/>
          <p:cNvGrpSpPr/>
          <p:nvPr/>
        </p:nvGrpSpPr>
        <p:grpSpPr>
          <a:xfrm>
            <a:off x="5050373" y="1492656"/>
            <a:ext cx="2592285" cy="1009787"/>
            <a:chOff x="0" y="0"/>
            <a:chExt cx="2592283" cy="1009786"/>
          </a:xfrm>
        </p:grpSpPr>
        <p:sp>
          <p:nvSpPr>
            <p:cNvPr id="137"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38"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142" name="Group"/>
          <p:cNvGrpSpPr/>
          <p:nvPr/>
        </p:nvGrpSpPr>
        <p:grpSpPr>
          <a:xfrm>
            <a:off x="2692399" y="3138285"/>
            <a:ext cx="1849121" cy="722548"/>
            <a:chOff x="0" y="0"/>
            <a:chExt cx="1849120" cy="722546"/>
          </a:xfrm>
        </p:grpSpPr>
        <p:sp>
          <p:nvSpPr>
            <p:cNvPr id="140"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41"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grpSp>
        <p:nvGrpSpPr>
          <p:cNvPr id="145" name="Group"/>
          <p:cNvGrpSpPr/>
          <p:nvPr/>
        </p:nvGrpSpPr>
        <p:grpSpPr>
          <a:xfrm>
            <a:off x="494244" y="1607224"/>
            <a:ext cx="1486879" cy="991792"/>
            <a:chOff x="0" y="0"/>
            <a:chExt cx="1486877" cy="991790"/>
          </a:xfrm>
        </p:grpSpPr>
        <p:pic>
          <p:nvPicPr>
            <p:cNvPr id="143" name="plus-lever.png" descr="plus-lever.png"/>
            <p:cNvPicPr>
              <a:picLocks noChangeAspect="0"/>
            </p:cNvPicPr>
            <p:nvPr/>
          </p:nvPicPr>
          <p:blipFill>
            <a:blip r:embed="rId5">
              <a:extLst/>
            </a:blip>
            <a:srcRect l="0" t="0" r="0" b="0"/>
            <a:stretch>
              <a:fillRect/>
            </a:stretch>
          </p:blipFill>
          <p:spPr>
            <a:xfrm>
              <a:off x="0" y="0"/>
              <a:ext cx="1486878" cy="991791"/>
            </a:xfrm>
            <a:prstGeom prst="rect">
              <a:avLst/>
            </a:prstGeom>
            <a:ln w="12700" cap="flat">
              <a:noFill/>
              <a:miter lim="400000"/>
            </a:ln>
            <a:effectLst/>
          </p:spPr>
        </p:pic>
        <p:sp>
          <p:nvSpPr>
            <p:cNvPr id="144"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49"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150" name="Rectangle"/>
          <p:cNvSpPr/>
          <p:nvPr/>
        </p:nvSpPr>
        <p:spPr>
          <a:xfrm>
            <a:off x="5734934" y="446100"/>
            <a:ext cx="3054830" cy="3679292"/>
          </a:xfrm>
          <a:prstGeom prst="rect">
            <a:avLst/>
          </a:prstGeom>
          <a:solidFill>
            <a:srgbClr val="FFFAF7"/>
          </a:solidFill>
          <a:ln w="12700">
            <a:miter lim="400000"/>
          </a:ln>
        </p:spPr>
        <p:txBody>
          <a:bodyPr lIns="45719" rIns="45719" anchor="ctr"/>
          <a:lstStyle/>
          <a:p>
            <a:pPr/>
          </a:p>
        </p:txBody>
      </p:sp>
      <p:sp>
        <p:nvSpPr>
          <p:cNvPr id="151" name="Rectangle"/>
          <p:cNvSpPr/>
          <p:nvPr/>
        </p:nvSpPr>
        <p:spPr>
          <a:xfrm>
            <a:off x="3933221" y="3529844"/>
            <a:ext cx="4983543" cy="722548"/>
          </a:xfrm>
          <a:prstGeom prst="rect">
            <a:avLst/>
          </a:prstGeom>
          <a:solidFill>
            <a:srgbClr val="FFFAF7"/>
          </a:solidFill>
          <a:ln w="12700">
            <a:miter lim="400000"/>
          </a:ln>
        </p:spPr>
        <p:txBody>
          <a:bodyPr lIns="45719" rIns="45719" anchor="ctr"/>
          <a:lstStyle/>
          <a:p>
            <a:pPr/>
          </a:p>
        </p:txBody>
      </p:sp>
      <p:sp>
        <p:nvSpPr>
          <p:cNvPr id="152"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53"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154" name="Text 8"/>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More effective management increased experience and knowledge which in turn improved management. A second virtuous cycle.</a:t>
            </a:r>
          </a:p>
        </p:txBody>
      </p:sp>
      <p:pic>
        <p:nvPicPr>
          <p:cNvPr id="155"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164" name="Group"/>
          <p:cNvGrpSpPr/>
          <p:nvPr/>
        </p:nvGrpSpPr>
        <p:grpSpPr>
          <a:xfrm>
            <a:off x="88161" y="3788947"/>
            <a:ext cx="2494166" cy="445149"/>
            <a:chOff x="0" y="0"/>
            <a:chExt cx="2494165" cy="445147"/>
          </a:xfrm>
        </p:grpSpPr>
        <p:sp>
          <p:nvSpPr>
            <p:cNvPr id="156"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57"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158"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59"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60"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161"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162"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163" name="plus-lever.png" descr="plus-lever.png"/>
            <p:cNvPicPr>
              <a:picLocks noChangeAspect="1"/>
            </p:cNvPicPr>
            <p:nvPr/>
          </p:nvPicPr>
          <p:blipFill>
            <a:blip r:embed="rId5">
              <a:extLst/>
            </a:blip>
            <a:srcRect l="0" t="0" r="0" b="0"/>
            <a:stretch>
              <a:fillRect/>
            </a:stretch>
          </p:blipFill>
          <p:spPr>
            <a:xfrm>
              <a:off x="163928" y="230273"/>
              <a:ext cx="196516" cy="167616"/>
            </a:xfrm>
            <a:prstGeom prst="rect">
              <a:avLst/>
            </a:prstGeom>
            <a:ln w="12700" cap="flat">
              <a:noFill/>
              <a:miter lim="400000"/>
            </a:ln>
            <a:effectLst/>
          </p:spPr>
        </p:pic>
      </p:grpSp>
      <p:grpSp>
        <p:nvGrpSpPr>
          <p:cNvPr id="167" name="Group"/>
          <p:cNvGrpSpPr/>
          <p:nvPr/>
        </p:nvGrpSpPr>
        <p:grpSpPr>
          <a:xfrm>
            <a:off x="2282357" y="339265"/>
            <a:ext cx="2156126" cy="784510"/>
            <a:chOff x="0" y="0"/>
            <a:chExt cx="2156124" cy="784508"/>
          </a:xfrm>
        </p:grpSpPr>
        <p:sp>
          <p:nvSpPr>
            <p:cNvPr id="165"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66"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170" name="Group"/>
          <p:cNvGrpSpPr/>
          <p:nvPr/>
        </p:nvGrpSpPr>
        <p:grpSpPr>
          <a:xfrm>
            <a:off x="2528084" y="1741846"/>
            <a:ext cx="1664672" cy="722548"/>
            <a:chOff x="0" y="0"/>
            <a:chExt cx="1664671" cy="722546"/>
          </a:xfrm>
        </p:grpSpPr>
        <p:sp>
          <p:nvSpPr>
            <p:cNvPr id="168"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69"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173" name="Group"/>
          <p:cNvGrpSpPr/>
          <p:nvPr/>
        </p:nvGrpSpPr>
        <p:grpSpPr>
          <a:xfrm>
            <a:off x="5050373" y="1492656"/>
            <a:ext cx="2592285" cy="1009787"/>
            <a:chOff x="0" y="0"/>
            <a:chExt cx="2592283" cy="1009786"/>
          </a:xfrm>
        </p:grpSpPr>
        <p:sp>
          <p:nvSpPr>
            <p:cNvPr id="171"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72"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176" name="Group"/>
          <p:cNvGrpSpPr/>
          <p:nvPr/>
        </p:nvGrpSpPr>
        <p:grpSpPr>
          <a:xfrm>
            <a:off x="494244" y="1607224"/>
            <a:ext cx="1486879" cy="991792"/>
            <a:chOff x="0" y="0"/>
            <a:chExt cx="1486877" cy="991790"/>
          </a:xfrm>
        </p:grpSpPr>
        <p:pic>
          <p:nvPicPr>
            <p:cNvPr id="174" name="plus-lever.png" descr="plus-lever.png"/>
            <p:cNvPicPr>
              <a:picLocks noChangeAspect="0"/>
            </p:cNvPicPr>
            <p:nvPr/>
          </p:nvPicPr>
          <p:blipFill>
            <a:blip r:embed="rId5">
              <a:extLst/>
            </a:blip>
            <a:srcRect l="0" t="0" r="0" b="0"/>
            <a:stretch>
              <a:fillRect/>
            </a:stretch>
          </p:blipFill>
          <p:spPr>
            <a:xfrm>
              <a:off x="0" y="0"/>
              <a:ext cx="1486878" cy="991791"/>
            </a:xfrm>
            <a:prstGeom prst="rect">
              <a:avLst/>
            </a:prstGeom>
            <a:ln w="12700" cap="flat">
              <a:noFill/>
              <a:miter lim="400000"/>
            </a:ln>
            <a:effectLst/>
          </p:spPr>
        </p:pic>
        <p:sp>
          <p:nvSpPr>
            <p:cNvPr id="175"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sp>
        <p:nvSpPr>
          <p:cNvPr id="177" name="Rectangle"/>
          <p:cNvSpPr/>
          <p:nvPr/>
        </p:nvSpPr>
        <p:spPr>
          <a:xfrm rot="18161420">
            <a:off x="4664983" y="1004381"/>
            <a:ext cx="277356" cy="897134"/>
          </a:xfrm>
          <a:prstGeom prst="rect">
            <a:avLst/>
          </a:prstGeom>
          <a:solidFill>
            <a:srgbClr val="FFFAF7"/>
          </a:solidFill>
          <a:ln w="12700">
            <a:miter lim="400000"/>
          </a:ln>
        </p:spPr>
        <p:txBody>
          <a:bodyPr lIns="45719" rIns="45719" anchor="ctr"/>
          <a:lstStyle/>
          <a:p>
            <a:pPr/>
          </a:p>
        </p:txBody>
      </p:sp>
      <p:grpSp>
        <p:nvGrpSpPr>
          <p:cNvPr id="180" name="Group"/>
          <p:cNvGrpSpPr/>
          <p:nvPr/>
        </p:nvGrpSpPr>
        <p:grpSpPr>
          <a:xfrm>
            <a:off x="2282357" y="339265"/>
            <a:ext cx="2156126" cy="784510"/>
            <a:chOff x="0" y="0"/>
            <a:chExt cx="2156124" cy="784508"/>
          </a:xfrm>
        </p:grpSpPr>
        <p:sp>
          <p:nvSpPr>
            <p:cNvPr id="178"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179"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sp>
        <p:nvSpPr>
          <p:cNvPr id="181" name="Rectangle"/>
          <p:cNvSpPr/>
          <p:nvPr/>
        </p:nvSpPr>
        <p:spPr>
          <a:xfrm>
            <a:off x="4434508" y="3224609"/>
            <a:ext cx="1079386" cy="1009787"/>
          </a:xfrm>
          <a:prstGeom prst="rect">
            <a:avLst/>
          </a:prstGeom>
          <a:solidFill>
            <a:srgbClr val="FFFAF7"/>
          </a:solidFill>
          <a:ln w="12700">
            <a:miter lim="400000"/>
          </a:ln>
        </p:spPr>
        <p:txBody>
          <a:bodyPr lIns="45719" rIns="45719" anchor="ctr"/>
          <a:lstStyle/>
          <a:p>
            <a:pPr/>
          </a:p>
        </p:txBody>
      </p:sp>
      <p:grpSp>
        <p:nvGrpSpPr>
          <p:cNvPr id="184" name="Group"/>
          <p:cNvGrpSpPr/>
          <p:nvPr/>
        </p:nvGrpSpPr>
        <p:grpSpPr>
          <a:xfrm>
            <a:off x="2692399" y="3138285"/>
            <a:ext cx="1849121" cy="722548"/>
            <a:chOff x="0" y="0"/>
            <a:chExt cx="1849120" cy="722546"/>
          </a:xfrm>
        </p:grpSpPr>
        <p:sp>
          <p:nvSpPr>
            <p:cNvPr id="182"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183"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188"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189" name="Rectangle"/>
          <p:cNvSpPr/>
          <p:nvPr/>
        </p:nvSpPr>
        <p:spPr>
          <a:xfrm>
            <a:off x="5783033" y="446100"/>
            <a:ext cx="3006731" cy="3679292"/>
          </a:xfrm>
          <a:prstGeom prst="rect">
            <a:avLst/>
          </a:prstGeom>
          <a:solidFill>
            <a:srgbClr val="FFFAF7"/>
          </a:solidFill>
          <a:ln w="12700">
            <a:miter lim="400000"/>
          </a:ln>
        </p:spPr>
        <p:txBody>
          <a:bodyPr lIns="45719" rIns="45719" anchor="ctr"/>
          <a:lstStyle/>
          <a:p>
            <a:pPr/>
          </a:p>
        </p:txBody>
      </p:sp>
      <p:sp>
        <p:nvSpPr>
          <p:cNvPr id="190" name="Rectangle"/>
          <p:cNvSpPr/>
          <p:nvPr/>
        </p:nvSpPr>
        <p:spPr>
          <a:xfrm>
            <a:off x="3933221" y="3529844"/>
            <a:ext cx="4983543" cy="722548"/>
          </a:xfrm>
          <a:prstGeom prst="rect">
            <a:avLst/>
          </a:prstGeom>
          <a:solidFill>
            <a:srgbClr val="FFFAF7"/>
          </a:solidFill>
          <a:ln w="12700">
            <a:miter lim="400000"/>
          </a:ln>
        </p:spPr>
        <p:txBody>
          <a:bodyPr lIns="45719" rIns="45719" anchor="ctr"/>
          <a:lstStyle/>
          <a:p>
            <a:pPr/>
          </a:p>
        </p:txBody>
      </p:sp>
      <p:sp>
        <p:nvSpPr>
          <p:cNvPr id="191"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192"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193" name="Text 9"/>
          <p:cNvSpPr txBox="1"/>
          <p:nvPr/>
        </p:nvSpPr>
        <p:spPr>
          <a:xfrm>
            <a:off x="274320" y="4534724"/>
            <a:ext cx="8755101"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More effective management increased experience and knowledge which in turn improved management. A third virtuous cycle.</a:t>
            </a:r>
          </a:p>
        </p:txBody>
      </p:sp>
      <p:pic>
        <p:nvPicPr>
          <p:cNvPr id="194"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203" name="Group"/>
          <p:cNvGrpSpPr/>
          <p:nvPr/>
        </p:nvGrpSpPr>
        <p:grpSpPr>
          <a:xfrm>
            <a:off x="88161" y="3788947"/>
            <a:ext cx="2494166" cy="445149"/>
            <a:chOff x="0" y="0"/>
            <a:chExt cx="2494165" cy="445147"/>
          </a:xfrm>
        </p:grpSpPr>
        <p:sp>
          <p:nvSpPr>
            <p:cNvPr id="195"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196"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197"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98"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199"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200"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201"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202" name="plus-lever.png" descr="plus-lever.png"/>
            <p:cNvPicPr>
              <a:picLocks noChangeAspect="1"/>
            </p:cNvPicPr>
            <p:nvPr/>
          </p:nvPicPr>
          <p:blipFill>
            <a:blip r:embed="rId5">
              <a:extLst/>
            </a:blip>
            <a:srcRect l="0" t="0" r="0" b="0"/>
            <a:stretch>
              <a:fillRect/>
            </a:stretch>
          </p:blipFill>
          <p:spPr>
            <a:xfrm>
              <a:off x="163928" y="230273"/>
              <a:ext cx="196516" cy="167616"/>
            </a:xfrm>
            <a:prstGeom prst="rect">
              <a:avLst/>
            </a:prstGeom>
            <a:ln w="12700" cap="flat">
              <a:noFill/>
              <a:miter lim="400000"/>
            </a:ln>
            <a:effectLst/>
          </p:spPr>
        </p:pic>
      </p:grpSp>
      <p:grpSp>
        <p:nvGrpSpPr>
          <p:cNvPr id="206" name="Group"/>
          <p:cNvGrpSpPr/>
          <p:nvPr/>
        </p:nvGrpSpPr>
        <p:grpSpPr>
          <a:xfrm>
            <a:off x="2282357" y="339265"/>
            <a:ext cx="2156126" cy="784510"/>
            <a:chOff x="0" y="0"/>
            <a:chExt cx="2156124" cy="784508"/>
          </a:xfrm>
        </p:grpSpPr>
        <p:sp>
          <p:nvSpPr>
            <p:cNvPr id="204"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05"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209" name="Group"/>
          <p:cNvGrpSpPr/>
          <p:nvPr/>
        </p:nvGrpSpPr>
        <p:grpSpPr>
          <a:xfrm>
            <a:off x="2528084" y="1741846"/>
            <a:ext cx="1664672" cy="722548"/>
            <a:chOff x="0" y="0"/>
            <a:chExt cx="1664671" cy="722546"/>
          </a:xfrm>
        </p:grpSpPr>
        <p:sp>
          <p:nvSpPr>
            <p:cNvPr id="207"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08"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212" name="Group"/>
          <p:cNvGrpSpPr/>
          <p:nvPr/>
        </p:nvGrpSpPr>
        <p:grpSpPr>
          <a:xfrm>
            <a:off x="5050373" y="1492656"/>
            <a:ext cx="2592285" cy="1009787"/>
            <a:chOff x="0" y="0"/>
            <a:chExt cx="2592283" cy="1009786"/>
          </a:xfrm>
        </p:grpSpPr>
        <p:sp>
          <p:nvSpPr>
            <p:cNvPr id="210"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11"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215" name="Group"/>
          <p:cNvGrpSpPr/>
          <p:nvPr/>
        </p:nvGrpSpPr>
        <p:grpSpPr>
          <a:xfrm>
            <a:off x="494244" y="1607224"/>
            <a:ext cx="1486879" cy="991792"/>
            <a:chOff x="0" y="0"/>
            <a:chExt cx="1486877" cy="991790"/>
          </a:xfrm>
        </p:grpSpPr>
        <p:pic>
          <p:nvPicPr>
            <p:cNvPr id="213" name="plus-lever.png" descr="plus-lever.png"/>
            <p:cNvPicPr>
              <a:picLocks noChangeAspect="0"/>
            </p:cNvPicPr>
            <p:nvPr/>
          </p:nvPicPr>
          <p:blipFill>
            <a:blip r:embed="rId5">
              <a:extLst/>
            </a:blip>
            <a:srcRect l="0" t="0" r="0" b="0"/>
            <a:stretch>
              <a:fillRect/>
            </a:stretch>
          </p:blipFill>
          <p:spPr>
            <a:xfrm>
              <a:off x="0" y="0"/>
              <a:ext cx="1486878" cy="991791"/>
            </a:xfrm>
            <a:prstGeom prst="rect">
              <a:avLst/>
            </a:prstGeom>
            <a:ln w="12700" cap="flat">
              <a:noFill/>
              <a:miter lim="400000"/>
            </a:ln>
            <a:effectLst/>
          </p:spPr>
        </p:pic>
        <p:sp>
          <p:nvSpPr>
            <p:cNvPr id="214"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sp>
        <p:nvSpPr>
          <p:cNvPr id="216" name="Rectangle"/>
          <p:cNvSpPr/>
          <p:nvPr/>
        </p:nvSpPr>
        <p:spPr>
          <a:xfrm>
            <a:off x="4434508" y="3224609"/>
            <a:ext cx="1079386" cy="1009787"/>
          </a:xfrm>
          <a:prstGeom prst="rect">
            <a:avLst/>
          </a:prstGeom>
          <a:solidFill>
            <a:srgbClr val="FFFAF7"/>
          </a:solidFill>
          <a:ln w="12700">
            <a:miter lim="400000"/>
          </a:ln>
        </p:spPr>
        <p:txBody>
          <a:bodyPr lIns="45719" rIns="45719" anchor="ctr"/>
          <a:lstStyle/>
          <a:p>
            <a:pPr/>
          </a:p>
        </p:txBody>
      </p:sp>
      <p:grpSp>
        <p:nvGrpSpPr>
          <p:cNvPr id="219" name="Group"/>
          <p:cNvGrpSpPr/>
          <p:nvPr/>
        </p:nvGrpSpPr>
        <p:grpSpPr>
          <a:xfrm>
            <a:off x="2692399" y="3138285"/>
            <a:ext cx="1849121" cy="722548"/>
            <a:chOff x="0" y="0"/>
            <a:chExt cx="1849120" cy="722546"/>
          </a:xfrm>
        </p:grpSpPr>
        <p:sp>
          <p:nvSpPr>
            <p:cNvPr id="217"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18"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23"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224" name="Rectangle"/>
          <p:cNvSpPr/>
          <p:nvPr/>
        </p:nvSpPr>
        <p:spPr>
          <a:xfrm>
            <a:off x="7061199" y="446100"/>
            <a:ext cx="1728564" cy="3679292"/>
          </a:xfrm>
          <a:prstGeom prst="rect">
            <a:avLst/>
          </a:prstGeom>
          <a:solidFill>
            <a:srgbClr val="FFFAF7"/>
          </a:solidFill>
          <a:ln w="12700">
            <a:miter lim="400000"/>
          </a:ln>
        </p:spPr>
        <p:txBody>
          <a:bodyPr lIns="45719" rIns="45719" anchor="ctr"/>
          <a:lstStyle/>
          <a:p>
            <a:pPr/>
          </a:p>
        </p:txBody>
      </p:sp>
      <p:sp>
        <p:nvSpPr>
          <p:cNvPr id="225"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26"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227" name="Text 9"/>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Within two years, fish were spilling out of the sanctuary. Fishermen stopped traveling far out to fish in waters that weren't theirs to protect. There were enough fish at home. Fishing locally, where they had to live with the consequences, made the commitment stronger. A fourth virtuous cycle.</a:t>
            </a:r>
          </a:p>
        </p:txBody>
      </p:sp>
      <p:pic>
        <p:nvPicPr>
          <p:cNvPr id="228"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grpSp>
        <p:nvGrpSpPr>
          <p:cNvPr id="237" name="Group"/>
          <p:cNvGrpSpPr/>
          <p:nvPr/>
        </p:nvGrpSpPr>
        <p:grpSpPr>
          <a:xfrm>
            <a:off x="88161" y="3788947"/>
            <a:ext cx="2494166" cy="445149"/>
            <a:chOff x="0" y="0"/>
            <a:chExt cx="2494165" cy="445147"/>
          </a:xfrm>
        </p:grpSpPr>
        <p:sp>
          <p:nvSpPr>
            <p:cNvPr id="229"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230"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231"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232"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233"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234"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235"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236" name="plus-lever.png" descr="plus-lever.png"/>
            <p:cNvPicPr>
              <a:picLocks noChangeAspect="1"/>
            </p:cNvPicPr>
            <p:nvPr/>
          </p:nvPicPr>
          <p:blipFill>
            <a:blip r:embed="rId5">
              <a:extLst/>
            </a:blip>
            <a:srcRect l="0" t="0" r="0" b="0"/>
            <a:stretch>
              <a:fillRect/>
            </a:stretch>
          </p:blipFill>
          <p:spPr>
            <a:xfrm>
              <a:off x="163928" y="230273"/>
              <a:ext cx="196516" cy="167616"/>
            </a:xfrm>
            <a:prstGeom prst="rect">
              <a:avLst/>
            </a:prstGeom>
            <a:ln w="12700" cap="flat">
              <a:noFill/>
              <a:miter lim="400000"/>
            </a:ln>
            <a:effectLst/>
          </p:spPr>
        </p:pic>
      </p:grpSp>
      <p:grpSp>
        <p:nvGrpSpPr>
          <p:cNvPr id="240" name="Group"/>
          <p:cNvGrpSpPr/>
          <p:nvPr/>
        </p:nvGrpSpPr>
        <p:grpSpPr>
          <a:xfrm>
            <a:off x="2282357" y="339265"/>
            <a:ext cx="2156126" cy="784510"/>
            <a:chOff x="0" y="0"/>
            <a:chExt cx="2156124" cy="784508"/>
          </a:xfrm>
        </p:grpSpPr>
        <p:sp>
          <p:nvSpPr>
            <p:cNvPr id="238"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39"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243" name="Group"/>
          <p:cNvGrpSpPr/>
          <p:nvPr/>
        </p:nvGrpSpPr>
        <p:grpSpPr>
          <a:xfrm>
            <a:off x="2528084" y="1741846"/>
            <a:ext cx="1664672" cy="722548"/>
            <a:chOff x="0" y="0"/>
            <a:chExt cx="1664671" cy="722546"/>
          </a:xfrm>
        </p:grpSpPr>
        <p:sp>
          <p:nvSpPr>
            <p:cNvPr id="241"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42"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246" name="Group"/>
          <p:cNvGrpSpPr/>
          <p:nvPr/>
        </p:nvGrpSpPr>
        <p:grpSpPr>
          <a:xfrm>
            <a:off x="5335016" y="2786872"/>
            <a:ext cx="1728564" cy="620972"/>
            <a:chOff x="0" y="0"/>
            <a:chExt cx="1728563" cy="620970"/>
          </a:xfrm>
        </p:grpSpPr>
        <p:sp>
          <p:nvSpPr>
            <p:cNvPr id="244" name="Rectangle"/>
            <p:cNvSpPr/>
            <p:nvPr/>
          </p:nvSpPr>
          <p:spPr>
            <a:xfrm rot="10999">
              <a:off x="980" y="2760"/>
              <a:ext cx="1726603" cy="615451"/>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45" name="More fishing at home fishing ground"/>
            <p:cNvSpPr txBox="1"/>
            <p:nvPr/>
          </p:nvSpPr>
          <p:spPr>
            <a:xfrm>
              <a:off x="230487" y="158556"/>
              <a:ext cx="1267579" cy="3098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fishing at home fishing ground</a:t>
              </a:r>
            </a:p>
          </p:txBody>
        </p:sp>
      </p:grpSp>
      <p:grpSp>
        <p:nvGrpSpPr>
          <p:cNvPr id="249" name="Group"/>
          <p:cNvGrpSpPr/>
          <p:nvPr/>
        </p:nvGrpSpPr>
        <p:grpSpPr>
          <a:xfrm>
            <a:off x="494244" y="1607224"/>
            <a:ext cx="1486879" cy="991792"/>
            <a:chOff x="0" y="0"/>
            <a:chExt cx="1486877" cy="991790"/>
          </a:xfrm>
        </p:grpSpPr>
        <p:pic>
          <p:nvPicPr>
            <p:cNvPr id="247" name="plus-lever.png" descr="plus-lever.png"/>
            <p:cNvPicPr>
              <a:picLocks noChangeAspect="0"/>
            </p:cNvPicPr>
            <p:nvPr/>
          </p:nvPicPr>
          <p:blipFill>
            <a:blip r:embed="rId5">
              <a:extLst/>
            </a:blip>
            <a:srcRect l="0" t="0" r="0" b="0"/>
            <a:stretch>
              <a:fillRect/>
            </a:stretch>
          </p:blipFill>
          <p:spPr>
            <a:xfrm>
              <a:off x="0" y="0"/>
              <a:ext cx="1486878" cy="991791"/>
            </a:xfrm>
            <a:prstGeom prst="rect">
              <a:avLst/>
            </a:prstGeom>
            <a:ln w="12700" cap="flat">
              <a:noFill/>
              <a:miter lim="400000"/>
            </a:ln>
            <a:effectLst/>
          </p:spPr>
        </p:pic>
        <p:sp>
          <p:nvSpPr>
            <p:cNvPr id="248"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sp>
        <p:nvSpPr>
          <p:cNvPr id="250" name="Rectangle"/>
          <p:cNvSpPr/>
          <p:nvPr/>
        </p:nvSpPr>
        <p:spPr>
          <a:xfrm>
            <a:off x="4209666" y="3529844"/>
            <a:ext cx="2978534" cy="722548"/>
          </a:xfrm>
          <a:prstGeom prst="rect">
            <a:avLst/>
          </a:prstGeom>
          <a:solidFill>
            <a:srgbClr val="FFFAF7"/>
          </a:solidFill>
          <a:ln w="12700">
            <a:miter lim="400000"/>
          </a:ln>
        </p:spPr>
        <p:txBody>
          <a:bodyPr lIns="45719" rIns="45719" anchor="ctr"/>
          <a:lstStyle/>
          <a:p>
            <a:pPr/>
          </a:p>
        </p:txBody>
      </p:sp>
      <p:grpSp>
        <p:nvGrpSpPr>
          <p:cNvPr id="253" name="Group"/>
          <p:cNvGrpSpPr/>
          <p:nvPr/>
        </p:nvGrpSpPr>
        <p:grpSpPr>
          <a:xfrm>
            <a:off x="2692399" y="3138285"/>
            <a:ext cx="1849121" cy="722548"/>
            <a:chOff x="0" y="0"/>
            <a:chExt cx="1849120" cy="722546"/>
          </a:xfrm>
        </p:grpSpPr>
        <p:sp>
          <p:nvSpPr>
            <p:cNvPr id="251"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52"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
        <p:nvSpPr>
          <p:cNvPr id="254" name="Rectangle"/>
          <p:cNvSpPr/>
          <p:nvPr/>
        </p:nvSpPr>
        <p:spPr>
          <a:xfrm>
            <a:off x="5547400" y="533271"/>
            <a:ext cx="1849121" cy="1009787"/>
          </a:xfrm>
          <a:prstGeom prst="rect">
            <a:avLst/>
          </a:prstGeom>
          <a:solidFill>
            <a:srgbClr val="FFFAF7"/>
          </a:solidFill>
          <a:ln w="12700">
            <a:miter lim="400000"/>
          </a:ln>
        </p:spPr>
        <p:txBody>
          <a:bodyPr lIns="45719" rIns="45719" anchor="ctr"/>
          <a:lstStyle/>
          <a:p>
            <a:pPr/>
          </a:p>
        </p:txBody>
      </p:sp>
      <p:grpSp>
        <p:nvGrpSpPr>
          <p:cNvPr id="257" name="Group"/>
          <p:cNvGrpSpPr/>
          <p:nvPr/>
        </p:nvGrpSpPr>
        <p:grpSpPr>
          <a:xfrm>
            <a:off x="5050373" y="1492656"/>
            <a:ext cx="2592285" cy="1009787"/>
            <a:chOff x="0" y="0"/>
            <a:chExt cx="2592283" cy="1009786"/>
          </a:xfrm>
        </p:grpSpPr>
        <p:sp>
          <p:nvSpPr>
            <p:cNvPr id="255"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56"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61"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262"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263"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grpSp>
        <p:nvGrpSpPr>
          <p:cNvPr id="266" name="Group"/>
          <p:cNvGrpSpPr/>
          <p:nvPr/>
        </p:nvGrpSpPr>
        <p:grpSpPr>
          <a:xfrm>
            <a:off x="2282357" y="339265"/>
            <a:ext cx="2156126" cy="784510"/>
            <a:chOff x="0" y="0"/>
            <a:chExt cx="2156124" cy="784508"/>
          </a:xfrm>
        </p:grpSpPr>
        <p:sp>
          <p:nvSpPr>
            <p:cNvPr id="264"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65"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269" name="Group"/>
          <p:cNvGrpSpPr/>
          <p:nvPr/>
        </p:nvGrpSpPr>
        <p:grpSpPr>
          <a:xfrm>
            <a:off x="5366962" y="424020"/>
            <a:ext cx="1664672" cy="615000"/>
            <a:chOff x="0" y="0"/>
            <a:chExt cx="1664671" cy="614999"/>
          </a:xfrm>
        </p:grpSpPr>
        <p:sp>
          <p:nvSpPr>
            <p:cNvPr id="267" name="Rectangle"/>
            <p:cNvSpPr/>
            <p:nvPr/>
          </p:nvSpPr>
          <p:spPr>
            <a:xfrm>
              <a:off x="0" y="0"/>
              <a:ext cx="1664672" cy="615000"/>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68" name="More Coral Reef  tourism and education"/>
            <p:cNvSpPr txBox="1"/>
            <p:nvPr/>
          </p:nvSpPr>
          <p:spPr>
            <a:xfrm>
              <a:off x="5779" y="170787"/>
              <a:ext cx="1653113" cy="2734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1A1A1A"/>
                  </a:solidFill>
                </a:defRPr>
              </a:pPr>
              <a:r>
                <a:t>More Coral Reef </a:t>
              </a:r>
              <a:br/>
              <a:r>
                <a:t>tourism and education</a:t>
              </a:r>
            </a:p>
          </p:txBody>
        </p:sp>
      </p:grpSp>
      <p:grpSp>
        <p:nvGrpSpPr>
          <p:cNvPr id="272" name="Group"/>
          <p:cNvGrpSpPr/>
          <p:nvPr/>
        </p:nvGrpSpPr>
        <p:grpSpPr>
          <a:xfrm>
            <a:off x="2528084" y="1741846"/>
            <a:ext cx="1664672" cy="722548"/>
            <a:chOff x="0" y="0"/>
            <a:chExt cx="1664671" cy="722546"/>
          </a:xfrm>
        </p:grpSpPr>
        <p:sp>
          <p:nvSpPr>
            <p:cNvPr id="270"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71"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275" name="Group"/>
          <p:cNvGrpSpPr/>
          <p:nvPr/>
        </p:nvGrpSpPr>
        <p:grpSpPr>
          <a:xfrm>
            <a:off x="5335016" y="2786872"/>
            <a:ext cx="1728564" cy="620972"/>
            <a:chOff x="0" y="0"/>
            <a:chExt cx="1728563" cy="620970"/>
          </a:xfrm>
        </p:grpSpPr>
        <p:sp>
          <p:nvSpPr>
            <p:cNvPr id="273" name="Rectangle"/>
            <p:cNvSpPr/>
            <p:nvPr/>
          </p:nvSpPr>
          <p:spPr>
            <a:xfrm rot="10999">
              <a:off x="980" y="2760"/>
              <a:ext cx="1726603" cy="615451"/>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274" name="More fishing at home fishing ground"/>
            <p:cNvSpPr txBox="1"/>
            <p:nvPr/>
          </p:nvSpPr>
          <p:spPr>
            <a:xfrm>
              <a:off x="230487" y="158556"/>
              <a:ext cx="1267579" cy="3098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fishing at home fishing ground</a:t>
              </a:r>
            </a:p>
          </p:txBody>
        </p:sp>
      </p:grpSp>
      <p:grpSp>
        <p:nvGrpSpPr>
          <p:cNvPr id="278" name="Group"/>
          <p:cNvGrpSpPr/>
          <p:nvPr/>
        </p:nvGrpSpPr>
        <p:grpSpPr>
          <a:xfrm>
            <a:off x="5050373" y="1492656"/>
            <a:ext cx="2592285" cy="1009787"/>
            <a:chOff x="0" y="0"/>
            <a:chExt cx="2592283" cy="1009786"/>
          </a:xfrm>
        </p:grpSpPr>
        <p:sp>
          <p:nvSpPr>
            <p:cNvPr id="276"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77"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281" name="Group"/>
          <p:cNvGrpSpPr/>
          <p:nvPr/>
        </p:nvGrpSpPr>
        <p:grpSpPr>
          <a:xfrm>
            <a:off x="2692399" y="3138285"/>
            <a:ext cx="1849121" cy="722548"/>
            <a:chOff x="0" y="0"/>
            <a:chExt cx="1849120" cy="722546"/>
          </a:xfrm>
        </p:grpSpPr>
        <p:sp>
          <p:nvSpPr>
            <p:cNvPr id="279"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280"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
        <p:nvSpPr>
          <p:cNvPr id="282" name="Text 9"/>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The reef's recovery brought something new: visitors. Tourism brought income. That income went into marine education and scholarships. More knowledge fed back into better management, which kept the reef healthy and brought more tourism. A fifth virtuous cycle.</a:t>
            </a:r>
          </a:p>
        </p:txBody>
      </p:sp>
      <p:grpSp>
        <p:nvGrpSpPr>
          <p:cNvPr id="291" name="Group"/>
          <p:cNvGrpSpPr/>
          <p:nvPr/>
        </p:nvGrpSpPr>
        <p:grpSpPr>
          <a:xfrm>
            <a:off x="88161" y="3788947"/>
            <a:ext cx="2494166" cy="445149"/>
            <a:chOff x="0" y="0"/>
            <a:chExt cx="2494165" cy="445147"/>
          </a:xfrm>
        </p:grpSpPr>
        <p:sp>
          <p:nvSpPr>
            <p:cNvPr id="283"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284"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285"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286"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287"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288"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289"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290" name="plus-lever.png" descr="plus-lever.png"/>
            <p:cNvPicPr>
              <a:picLocks noChangeAspect="1"/>
            </p:cNvPicPr>
            <p:nvPr/>
          </p:nvPicPr>
          <p:blipFill>
            <a:blip r:embed="rId4">
              <a:extLst/>
            </a:blip>
            <a:srcRect l="0" t="0" r="0" b="0"/>
            <a:stretch>
              <a:fillRect/>
            </a:stretch>
          </p:blipFill>
          <p:spPr>
            <a:xfrm>
              <a:off x="163928" y="230273"/>
              <a:ext cx="196516" cy="167616"/>
            </a:xfrm>
            <a:prstGeom prst="rect">
              <a:avLst/>
            </a:prstGeom>
            <a:ln w="12700" cap="flat">
              <a:noFill/>
              <a:miter lim="400000"/>
            </a:ln>
            <a:effectLst/>
          </p:spPr>
        </p:pic>
      </p:grpSp>
      <p:grpSp>
        <p:nvGrpSpPr>
          <p:cNvPr id="294" name="Group"/>
          <p:cNvGrpSpPr/>
          <p:nvPr/>
        </p:nvGrpSpPr>
        <p:grpSpPr>
          <a:xfrm>
            <a:off x="494244" y="1607224"/>
            <a:ext cx="1486879" cy="991792"/>
            <a:chOff x="0" y="0"/>
            <a:chExt cx="1486877" cy="991790"/>
          </a:xfrm>
        </p:grpSpPr>
        <p:pic>
          <p:nvPicPr>
            <p:cNvPr id="292" name="plus-lever.png" descr="plus-lever.png"/>
            <p:cNvPicPr>
              <a:picLocks noChangeAspect="0"/>
            </p:cNvPicPr>
            <p:nvPr/>
          </p:nvPicPr>
          <p:blipFill>
            <a:blip r:embed="rId4">
              <a:extLst/>
            </a:blip>
            <a:srcRect l="0" t="0" r="0" b="0"/>
            <a:stretch>
              <a:fillRect/>
            </a:stretch>
          </p:blipFill>
          <p:spPr>
            <a:xfrm>
              <a:off x="0" y="0"/>
              <a:ext cx="1486878" cy="991791"/>
            </a:xfrm>
            <a:prstGeom prst="rect">
              <a:avLst/>
            </a:prstGeom>
            <a:ln w="12700" cap="flat">
              <a:noFill/>
              <a:miter lim="400000"/>
            </a:ln>
            <a:effectLst/>
          </p:spPr>
        </p:pic>
        <p:sp>
          <p:nvSpPr>
            <p:cNvPr id="293"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pic>
        <p:nvPicPr>
          <p:cNvPr id="295"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299"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300"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301"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grpSp>
        <p:nvGrpSpPr>
          <p:cNvPr id="304" name="Group"/>
          <p:cNvGrpSpPr/>
          <p:nvPr/>
        </p:nvGrpSpPr>
        <p:grpSpPr>
          <a:xfrm>
            <a:off x="2282357" y="339265"/>
            <a:ext cx="2156126" cy="784510"/>
            <a:chOff x="0" y="0"/>
            <a:chExt cx="2156124" cy="784508"/>
          </a:xfrm>
        </p:grpSpPr>
        <p:sp>
          <p:nvSpPr>
            <p:cNvPr id="302"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03"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307" name="Group"/>
          <p:cNvGrpSpPr/>
          <p:nvPr/>
        </p:nvGrpSpPr>
        <p:grpSpPr>
          <a:xfrm>
            <a:off x="5366962" y="424020"/>
            <a:ext cx="1664672" cy="615000"/>
            <a:chOff x="0" y="0"/>
            <a:chExt cx="1664671" cy="614999"/>
          </a:xfrm>
        </p:grpSpPr>
        <p:sp>
          <p:nvSpPr>
            <p:cNvPr id="305" name="Rectangle"/>
            <p:cNvSpPr/>
            <p:nvPr/>
          </p:nvSpPr>
          <p:spPr>
            <a:xfrm>
              <a:off x="0" y="0"/>
              <a:ext cx="1664672" cy="615000"/>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06" name="More Coral Reef  tourism and education"/>
            <p:cNvSpPr txBox="1"/>
            <p:nvPr/>
          </p:nvSpPr>
          <p:spPr>
            <a:xfrm>
              <a:off x="5779" y="170787"/>
              <a:ext cx="1653113" cy="2734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1A1A1A"/>
                  </a:solidFill>
                </a:defRPr>
              </a:pPr>
              <a:r>
                <a:t>More Coral Reef </a:t>
              </a:r>
              <a:br/>
              <a:r>
                <a:t>tourism and education</a:t>
              </a:r>
            </a:p>
          </p:txBody>
        </p:sp>
      </p:grpSp>
      <p:grpSp>
        <p:nvGrpSpPr>
          <p:cNvPr id="310" name="Group"/>
          <p:cNvGrpSpPr/>
          <p:nvPr/>
        </p:nvGrpSpPr>
        <p:grpSpPr>
          <a:xfrm>
            <a:off x="2528084" y="1741846"/>
            <a:ext cx="1664672" cy="722548"/>
            <a:chOff x="0" y="0"/>
            <a:chExt cx="1664671" cy="722546"/>
          </a:xfrm>
        </p:grpSpPr>
        <p:sp>
          <p:nvSpPr>
            <p:cNvPr id="308"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09"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313" name="Group"/>
          <p:cNvGrpSpPr/>
          <p:nvPr/>
        </p:nvGrpSpPr>
        <p:grpSpPr>
          <a:xfrm>
            <a:off x="5335016" y="2786872"/>
            <a:ext cx="1728564" cy="620972"/>
            <a:chOff x="0" y="0"/>
            <a:chExt cx="1728563" cy="620970"/>
          </a:xfrm>
        </p:grpSpPr>
        <p:sp>
          <p:nvSpPr>
            <p:cNvPr id="311" name="Rectangle"/>
            <p:cNvSpPr/>
            <p:nvPr/>
          </p:nvSpPr>
          <p:spPr>
            <a:xfrm rot="10999">
              <a:off x="980" y="2760"/>
              <a:ext cx="1726603" cy="615451"/>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12" name="More fishing at home fishing ground"/>
            <p:cNvSpPr txBox="1"/>
            <p:nvPr/>
          </p:nvSpPr>
          <p:spPr>
            <a:xfrm>
              <a:off x="230487" y="158556"/>
              <a:ext cx="1267579" cy="3098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fishing at home fishing ground</a:t>
              </a:r>
            </a:p>
          </p:txBody>
        </p:sp>
      </p:grpSp>
      <p:grpSp>
        <p:nvGrpSpPr>
          <p:cNvPr id="316" name="Group"/>
          <p:cNvGrpSpPr/>
          <p:nvPr/>
        </p:nvGrpSpPr>
        <p:grpSpPr>
          <a:xfrm>
            <a:off x="5050373" y="1492656"/>
            <a:ext cx="2592285" cy="1009787"/>
            <a:chOff x="0" y="0"/>
            <a:chExt cx="2592283" cy="1009786"/>
          </a:xfrm>
        </p:grpSpPr>
        <p:sp>
          <p:nvSpPr>
            <p:cNvPr id="314"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5"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319" name="Group"/>
          <p:cNvGrpSpPr/>
          <p:nvPr/>
        </p:nvGrpSpPr>
        <p:grpSpPr>
          <a:xfrm>
            <a:off x="2692399" y="3138285"/>
            <a:ext cx="1849121" cy="722548"/>
            <a:chOff x="0" y="0"/>
            <a:chExt cx="1849120" cy="722546"/>
          </a:xfrm>
        </p:grpSpPr>
        <p:sp>
          <p:nvSpPr>
            <p:cNvPr id="317"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18"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
        <p:nvSpPr>
          <p:cNvPr id="320" name="Text 9"/>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All of these cycles were now reinforcing each other. The vicious cycle that had driven the decline was being overpowered. The same system was now pushing toward recovery.</a:t>
            </a:r>
          </a:p>
        </p:txBody>
      </p:sp>
      <p:grpSp>
        <p:nvGrpSpPr>
          <p:cNvPr id="329" name="Group"/>
          <p:cNvGrpSpPr/>
          <p:nvPr/>
        </p:nvGrpSpPr>
        <p:grpSpPr>
          <a:xfrm>
            <a:off x="88161" y="3788947"/>
            <a:ext cx="2494166" cy="445149"/>
            <a:chOff x="0" y="0"/>
            <a:chExt cx="2494165" cy="445147"/>
          </a:xfrm>
        </p:grpSpPr>
        <p:sp>
          <p:nvSpPr>
            <p:cNvPr id="321"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322"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323"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324"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325"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326"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327"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328" name="plus-lever.png" descr="plus-lever.png"/>
            <p:cNvPicPr>
              <a:picLocks noChangeAspect="1"/>
            </p:cNvPicPr>
            <p:nvPr/>
          </p:nvPicPr>
          <p:blipFill>
            <a:blip r:embed="rId4">
              <a:extLst/>
            </a:blip>
            <a:srcRect l="0" t="0" r="0" b="0"/>
            <a:stretch>
              <a:fillRect/>
            </a:stretch>
          </p:blipFill>
          <p:spPr>
            <a:xfrm>
              <a:off x="163928" y="230273"/>
              <a:ext cx="196516" cy="167616"/>
            </a:xfrm>
            <a:prstGeom prst="rect">
              <a:avLst/>
            </a:prstGeom>
            <a:ln w="12700" cap="flat">
              <a:noFill/>
              <a:miter lim="400000"/>
            </a:ln>
            <a:effectLst/>
          </p:spPr>
        </p:pic>
      </p:grpSp>
      <p:grpSp>
        <p:nvGrpSpPr>
          <p:cNvPr id="332" name="Group"/>
          <p:cNvGrpSpPr/>
          <p:nvPr/>
        </p:nvGrpSpPr>
        <p:grpSpPr>
          <a:xfrm>
            <a:off x="494244" y="1607224"/>
            <a:ext cx="1486879" cy="991792"/>
            <a:chOff x="0" y="0"/>
            <a:chExt cx="1486877" cy="991790"/>
          </a:xfrm>
        </p:grpSpPr>
        <p:pic>
          <p:nvPicPr>
            <p:cNvPr id="330" name="plus-lever.png" descr="plus-lever.png"/>
            <p:cNvPicPr>
              <a:picLocks noChangeAspect="0"/>
            </p:cNvPicPr>
            <p:nvPr/>
          </p:nvPicPr>
          <p:blipFill>
            <a:blip r:embed="rId4">
              <a:extLst/>
            </a:blip>
            <a:srcRect l="0" t="0" r="0" b="0"/>
            <a:stretch>
              <a:fillRect/>
            </a:stretch>
          </p:blipFill>
          <p:spPr>
            <a:xfrm>
              <a:off x="0" y="0"/>
              <a:ext cx="1486878" cy="991791"/>
            </a:xfrm>
            <a:prstGeom prst="rect">
              <a:avLst/>
            </a:prstGeom>
            <a:ln w="12700" cap="flat">
              <a:noFill/>
              <a:miter lim="400000"/>
            </a:ln>
            <a:effectLst/>
          </p:spPr>
        </p:pic>
        <p:sp>
          <p:nvSpPr>
            <p:cNvPr id="331"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pic>
        <p:nvPicPr>
          <p:cNvPr id="333"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337" name="r9.png" descr="r9.png"/>
          <p:cNvPicPr>
            <a:picLocks noChangeAspect="1"/>
          </p:cNvPicPr>
          <p:nvPr/>
        </p:nvPicPr>
        <p:blipFill>
          <a:blip r:embed="rId3">
            <a:extLst/>
          </a:blip>
          <a:stretch>
            <a:fillRect/>
          </a:stretch>
        </p:blipFill>
        <p:spPr>
          <a:xfrm>
            <a:off x="12840" y="14603"/>
            <a:ext cx="9144001" cy="5181926"/>
          </a:xfrm>
          <a:prstGeom prst="rect">
            <a:avLst/>
          </a:prstGeom>
          <a:ln w="12700">
            <a:miter lim="400000"/>
          </a:ln>
        </p:spPr>
      </p:pic>
      <p:sp>
        <p:nvSpPr>
          <p:cNvPr id="338"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339"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grpSp>
        <p:nvGrpSpPr>
          <p:cNvPr id="342" name="Group"/>
          <p:cNvGrpSpPr/>
          <p:nvPr/>
        </p:nvGrpSpPr>
        <p:grpSpPr>
          <a:xfrm>
            <a:off x="2282357" y="339265"/>
            <a:ext cx="2156126" cy="784510"/>
            <a:chOff x="0" y="0"/>
            <a:chExt cx="2156124" cy="784508"/>
          </a:xfrm>
        </p:grpSpPr>
        <p:sp>
          <p:nvSpPr>
            <p:cNvPr id="340" name="Rectangle"/>
            <p:cNvSpPr/>
            <p:nvPr/>
          </p:nvSpPr>
          <p:spPr>
            <a:xfrm>
              <a:off x="0" y="0"/>
              <a:ext cx="2156125" cy="784509"/>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41" name="More effective management of the Island's fishing ground"/>
            <p:cNvSpPr txBox="1"/>
            <p:nvPr/>
          </p:nvSpPr>
          <p:spPr>
            <a:xfrm>
              <a:off x="147152" y="242062"/>
              <a:ext cx="1861821"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effective management of the Island's fishing ground</a:t>
              </a:r>
            </a:p>
          </p:txBody>
        </p:sp>
      </p:grpSp>
      <p:grpSp>
        <p:nvGrpSpPr>
          <p:cNvPr id="345" name="Group"/>
          <p:cNvGrpSpPr/>
          <p:nvPr/>
        </p:nvGrpSpPr>
        <p:grpSpPr>
          <a:xfrm>
            <a:off x="5366962" y="424020"/>
            <a:ext cx="1664672" cy="615000"/>
            <a:chOff x="0" y="0"/>
            <a:chExt cx="1664671" cy="614999"/>
          </a:xfrm>
        </p:grpSpPr>
        <p:sp>
          <p:nvSpPr>
            <p:cNvPr id="343" name="Rectangle"/>
            <p:cNvSpPr/>
            <p:nvPr/>
          </p:nvSpPr>
          <p:spPr>
            <a:xfrm>
              <a:off x="0" y="0"/>
              <a:ext cx="1664672" cy="615000"/>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44" name="More Coral Reef  tourism and education"/>
            <p:cNvSpPr txBox="1"/>
            <p:nvPr/>
          </p:nvSpPr>
          <p:spPr>
            <a:xfrm>
              <a:off x="5779" y="170787"/>
              <a:ext cx="1653113" cy="2734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1A1A1A"/>
                  </a:solidFill>
                </a:defRPr>
              </a:pPr>
              <a:r>
                <a:t>More Coral Reef </a:t>
              </a:r>
              <a:br/>
              <a:r>
                <a:t>tourism and education</a:t>
              </a:r>
            </a:p>
          </p:txBody>
        </p:sp>
      </p:grpSp>
      <p:grpSp>
        <p:nvGrpSpPr>
          <p:cNvPr id="348" name="Group"/>
          <p:cNvGrpSpPr/>
          <p:nvPr/>
        </p:nvGrpSpPr>
        <p:grpSpPr>
          <a:xfrm>
            <a:off x="2528084" y="1741846"/>
            <a:ext cx="1664672" cy="722548"/>
            <a:chOff x="0" y="0"/>
            <a:chExt cx="1664671" cy="722546"/>
          </a:xfrm>
        </p:grpSpPr>
        <p:sp>
          <p:nvSpPr>
            <p:cNvPr id="346" name="Rectangle"/>
            <p:cNvSpPr/>
            <p:nvPr/>
          </p:nvSpPr>
          <p:spPr>
            <a:xfrm>
              <a:off x="0" y="0"/>
              <a:ext cx="1664672" cy="72254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47" name="Less use of destructive fishing methods"/>
            <p:cNvSpPr txBox="1"/>
            <p:nvPr/>
          </p:nvSpPr>
          <p:spPr>
            <a:xfrm>
              <a:off x="95270" y="211081"/>
              <a:ext cx="1474131"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use of destructive fishing methods</a:t>
              </a:r>
            </a:p>
          </p:txBody>
        </p:sp>
      </p:grpSp>
      <p:grpSp>
        <p:nvGrpSpPr>
          <p:cNvPr id="351" name="Group"/>
          <p:cNvGrpSpPr/>
          <p:nvPr/>
        </p:nvGrpSpPr>
        <p:grpSpPr>
          <a:xfrm>
            <a:off x="5335016" y="2786872"/>
            <a:ext cx="1728564" cy="620972"/>
            <a:chOff x="0" y="0"/>
            <a:chExt cx="1728563" cy="620970"/>
          </a:xfrm>
        </p:grpSpPr>
        <p:sp>
          <p:nvSpPr>
            <p:cNvPr id="349" name="Rectangle"/>
            <p:cNvSpPr/>
            <p:nvPr/>
          </p:nvSpPr>
          <p:spPr>
            <a:xfrm rot="10999">
              <a:off x="980" y="2760"/>
              <a:ext cx="1726603" cy="615451"/>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50" name="More fishing at home fishing ground"/>
            <p:cNvSpPr txBox="1"/>
            <p:nvPr/>
          </p:nvSpPr>
          <p:spPr>
            <a:xfrm>
              <a:off x="230487" y="158556"/>
              <a:ext cx="1267579" cy="3098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fishing at home fishing ground</a:t>
              </a:r>
            </a:p>
          </p:txBody>
        </p:sp>
      </p:grpSp>
      <p:grpSp>
        <p:nvGrpSpPr>
          <p:cNvPr id="354" name="Group"/>
          <p:cNvGrpSpPr/>
          <p:nvPr/>
        </p:nvGrpSpPr>
        <p:grpSpPr>
          <a:xfrm>
            <a:off x="5050373" y="1492656"/>
            <a:ext cx="2592285" cy="1009787"/>
            <a:chOff x="0" y="0"/>
            <a:chExt cx="2592283" cy="1009786"/>
          </a:xfrm>
        </p:grpSpPr>
        <p:sp>
          <p:nvSpPr>
            <p:cNvPr id="352" name="Oval"/>
            <p:cNvSpPr/>
            <p:nvPr/>
          </p:nvSpPr>
          <p:spPr>
            <a:xfrm>
              <a:off x="0" y="0"/>
              <a:ext cx="2592284" cy="100978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53" name="More experience, Knowledge,  and commitment to sustainability of local marine ecosystem"/>
            <p:cNvSpPr txBox="1"/>
            <p:nvPr/>
          </p:nvSpPr>
          <p:spPr>
            <a:xfrm>
              <a:off x="302530" y="272151"/>
              <a:ext cx="1987223" cy="4654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experience, Knowledge, </a:t>
              </a:r>
              <a:br/>
              <a:r>
                <a:t>and commitment to sustainability of local marine ecosystem</a:t>
              </a:r>
            </a:p>
          </p:txBody>
        </p:sp>
      </p:grpSp>
      <p:grpSp>
        <p:nvGrpSpPr>
          <p:cNvPr id="357" name="Group"/>
          <p:cNvGrpSpPr/>
          <p:nvPr/>
        </p:nvGrpSpPr>
        <p:grpSpPr>
          <a:xfrm>
            <a:off x="2692399" y="3138285"/>
            <a:ext cx="1849121" cy="722548"/>
            <a:chOff x="0" y="0"/>
            <a:chExt cx="1849120" cy="722546"/>
          </a:xfrm>
        </p:grpSpPr>
        <p:sp>
          <p:nvSpPr>
            <p:cNvPr id="355" name="Oval"/>
            <p:cNvSpPr/>
            <p:nvPr/>
          </p:nvSpPr>
          <p:spPr>
            <a:xfrm>
              <a:off x="0" y="0"/>
              <a:ext cx="1849121" cy="7225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56" name="More Coral Reef habitat and more fish"/>
            <p:cNvSpPr txBox="1"/>
            <p:nvPr/>
          </p:nvSpPr>
          <p:spPr>
            <a:xfrm>
              <a:off x="252003" y="211081"/>
              <a:ext cx="1345115"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Coral Reef habitat and more fish</a:t>
              </a:r>
            </a:p>
          </p:txBody>
        </p:sp>
      </p:grpSp>
      <p:sp>
        <p:nvSpPr>
          <p:cNvPr id="358" name="Text 9"/>
          <p:cNvSpPr txBox="1"/>
          <p:nvPr/>
        </p:nvSpPr>
        <p:spPr>
          <a:xfrm>
            <a:off x="274320" y="4534724"/>
            <a:ext cx="8595360" cy="4199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This is what a tipping point looks like when it goes the other way. Locked in by experience, knowledge, and a community that understood what they had built.</a:t>
            </a:r>
          </a:p>
        </p:txBody>
      </p:sp>
      <p:grpSp>
        <p:nvGrpSpPr>
          <p:cNvPr id="367" name="Group"/>
          <p:cNvGrpSpPr/>
          <p:nvPr/>
        </p:nvGrpSpPr>
        <p:grpSpPr>
          <a:xfrm>
            <a:off x="88161" y="3788947"/>
            <a:ext cx="2494166" cy="445149"/>
            <a:chOff x="0" y="0"/>
            <a:chExt cx="2494165" cy="445147"/>
          </a:xfrm>
        </p:grpSpPr>
        <p:sp>
          <p:nvSpPr>
            <p:cNvPr id="359"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360"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361"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362"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363"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364"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365"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366" name="plus-lever.png" descr="plus-lever.png"/>
            <p:cNvPicPr>
              <a:picLocks noChangeAspect="1"/>
            </p:cNvPicPr>
            <p:nvPr/>
          </p:nvPicPr>
          <p:blipFill>
            <a:blip r:embed="rId4">
              <a:extLst/>
            </a:blip>
            <a:srcRect l="0" t="0" r="0" b="0"/>
            <a:stretch>
              <a:fillRect/>
            </a:stretch>
          </p:blipFill>
          <p:spPr>
            <a:xfrm>
              <a:off x="163928" y="230273"/>
              <a:ext cx="196516" cy="167616"/>
            </a:xfrm>
            <a:prstGeom prst="rect">
              <a:avLst/>
            </a:prstGeom>
            <a:ln w="12700" cap="flat">
              <a:noFill/>
              <a:miter lim="400000"/>
            </a:ln>
            <a:effectLst/>
          </p:spPr>
        </p:pic>
      </p:grpSp>
      <p:grpSp>
        <p:nvGrpSpPr>
          <p:cNvPr id="370" name="Group"/>
          <p:cNvGrpSpPr/>
          <p:nvPr/>
        </p:nvGrpSpPr>
        <p:grpSpPr>
          <a:xfrm>
            <a:off x="494244" y="1607224"/>
            <a:ext cx="1486879" cy="991792"/>
            <a:chOff x="0" y="0"/>
            <a:chExt cx="1486877" cy="991790"/>
          </a:xfrm>
        </p:grpSpPr>
        <p:pic>
          <p:nvPicPr>
            <p:cNvPr id="368" name="plus-lever.png" descr="plus-lever.png"/>
            <p:cNvPicPr>
              <a:picLocks noChangeAspect="0"/>
            </p:cNvPicPr>
            <p:nvPr/>
          </p:nvPicPr>
          <p:blipFill>
            <a:blip r:embed="rId4">
              <a:extLst/>
            </a:blip>
            <a:srcRect l="0" t="0" r="0" b="0"/>
            <a:stretch>
              <a:fillRect/>
            </a:stretch>
          </p:blipFill>
          <p:spPr>
            <a:xfrm>
              <a:off x="0" y="0"/>
              <a:ext cx="1486878" cy="991791"/>
            </a:xfrm>
            <a:prstGeom prst="rect">
              <a:avLst/>
            </a:prstGeom>
            <a:ln w="12700" cap="flat">
              <a:noFill/>
              <a:miter lim="400000"/>
            </a:ln>
            <a:effectLst/>
          </p:spPr>
        </p:pic>
        <p:sp>
          <p:nvSpPr>
            <p:cNvPr id="369" name="Creation of a marine sanctuary"/>
            <p:cNvSpPr txBox="1"/>
            <p:nvPr/>
          </p:nvSpPr>
          <p:spPr>
            <a:xfrm>
              <a:off x="200589" y="345703"/>
              <a:ext cx="108570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FFFFFF"/>
                  </a:solidFill>
                </a:defRPr>
              </a:lvl1pPr>
            </a:lstStyle>
            <a:p>
              <a:pPr/>
              <a:r>
                <a:t>Creation of a marine sanctuary</a:t>
              </a:r>
            </a:p>
          </p:txBody>
        </p:sp>
      </p:grpSp>
      <p:pic>
        <p:nvPicPr>
          <p:cNvPr id="371"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D5016"/>
        </a:solidFill>
      </p:bgPr>
    </p:bg>
    <p:spTree>
      <p:nvGrpSpPr>
        <p:cNvPr id="1" name=""/>
        <p:cNvGrpSpPr/>
        <p:nvPr/>
      </p:nvGrpSpPr>
      <p:grpSpPr>
        <a:xfrm>
          <a:off x="0" y="0"/>
          <a:ext cx="0" cy="0"/>
          <a:chOff x="0" y="0"/>
          <a:chExt cx="0" cy="0"/>
        </a:xfrm>
      </p:grpSpPr>
      <p:sp>
        <p:nvSpPr>
          <p:cNvPr id="375" name="Text 0"/>
          <p:cNvSpPr txBox="1"/>
          <p:nvPr/>
        </p:nvSpPr>
        <p:spPr>
          <a:xfrm>
            <a:off x="548640" y="1327149"/>
            <a:ext cx="8046719"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FFFFFF"/>
                </a:solidFill>
                <a:latin typeface="Georgia"/>
                <a:ea typeface="Georgia"/>
                <a:cs typeface="Georgia"/>
                <a:sym typeface="Georgia"/>
              </a:defRPr>
            </a:lvl1pPr>
          </a:lstStyle>
          <a:p>
            <a:pPr/>
            <a:r>
              <a:t>Rajasthan</a:t>
            </a:r>
          </a:p>
        </p:txBody>
      </p:sp>
      <p:sp>
        <p:nvSpPr>
          <p:cNvPr id="376" name="Text 1"/>
          <p:cNvSpPr txBox="1"/>
          <p:nvPr/>
        </p:nvSpPr>
        <p:spPr>
          <a:xfrm>
            <a:off x="548640" y="2011679"/>
            <a:ext cx="8046719"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2200">
                <a:solidFill>
                  <a:srgbClr val="97BC62"/>
                </a:solidFill>
                <a:latin typeface="Georgia"/>
                <a:ea typeface="Georgia"/>
                <a:cs typeface="Georgia"/>
                <a:sym typeface="Georgia"/>
              </a:defRPr>
            </a:lvl1pPr>
          </a:lstStyle>
          <a:p>
            <a:pPr/>
            <a:r>
              <a:t>Reverse It: Finding the Lever</a:t>
            </a:r>
          </a:p>
        </p:txBody>
      </p:sp>
      <p:sp>
        <p:nvSpPr>
          <p:cNvPr id="377" name="Shape 2"/>
          <p:cNvSpPr/>
          <p:nvPr/>
        </p:nvSpPr>
        <p:spPr>
          <a:xfrm>
            <a:off x="548640" y="2606039"/>
            <a:ext cx="1371601" cy="1"/>
          </a:xfrm>
          <a:prstGeom prst="line">
            <a:avLst/>
          </a:prstGeom>
          <a:ln w="19050">
            <a:solidFill>
              <a:srgbClr val="4A7C59"/>
            </a:solidFill>
          </a:ln>
        </p:spPr>
        <p:txBody>
          <a:bodyPr lIns="45719" rIns="45719"/>
          <a:lstStyle/>
          <a:p>
            <a:pPr/>
          </a:p>
        </p:txBody>
      </p:sp>
      <p:sp>
        <p:nvSpPr>
          <p:cNvPr id="378" name="Text 3"/>
          <p:cNvSpPr txBox="1"/>
          <p:nvPr/>
        </p:nvSpPr>
        <p:spPr>
          <a:xfrm>
            <a:off x="548640" y="2788920"/>
            <a:ext cx="8046719" cy="1346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i="1" sz="1500">
                <a:solidFill>
                  <a:srgbClr val="D5E8D4"/>
                </a:solidFill>
                <a:latin typeface="Georgia"/>
                <a:ea typeface="Georgia"/>
                <a:cs typeface="Georgia"/>
                <a:sym typeface="Georgia"/>
              </a:defRPr>
            </a:pPr>
            <a:r>
              <a:t>Some systems are more complex with no obvious fix. </a:t>
            </a:r>
            <a:br/>
            <a:br/>
            <a:r>
              <a:t>The lever is somewhere unexpected. </a:t>
            </a:r>
            <a:br/>
            <a:br/>
            <a:r>
              <a:t>Finding the lever takes patience; it takes more voices in the room.</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382" name="n92.png" descr="n92.png"/>
          <p:cNvPicPr>
            <a:picLocks noChangeAspect="1"/>
          </p:cNvPicPr>
          <p:nvPr/>
        </p:nvPicPr>
        <p:blipFill>
          <a:blip r:embed="rId3">
            <a:extLst/>
          </a:blip>
          <a:stretch>
            <a:fillRect/>
          </a:stretch>
        </p:blipFill>
        <p:spPr>
          <a:xfrm>
            <a:off x="33902" y="68977"/>
            <a:ext cx="9076196" cy="5143501"/>
          </a:xfrm>
          <a:prstGeom prst="rect">
            <a:avLst/>
          </a:prstGeom>
          <a:ln w="12700">
            <a:miter lim="400000"/>
          </a:ln>
        </p:spPr>
      </p:pic>
      <p:sp>
        <p:nvSpPr>
          <p:cNvPr id="383"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384"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385"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In Rajasthan, the map was more complicated. Finding the lever took longer. The Rajasthan map has four vicious cycles feeding into each other. When the community found the right lever, all four began to shift. Not all at once, and not without effort. But the direction changed.</a:t>
            </a:r>
          </a:p>
        </p:txBody>
      </p:sp>
      <p:pic>
        <p:nvPicPr>
          <p:cNvPr id="386"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sp>
        <p:nvSpPr>
          <p:cNvPr id="387" name="Shape 1"/>
          <p:cNvSpPr/>
          <p:nvPr/>
        </p:nvSpPr>
        <p:spPr>
          <a:xfrm>
            <a:off x="9499600" y="2798388"/>
            <a:ext cx="2651761" cy="1256638"/>
          </a:xfrm>
          <a:prstGeom prst="rect">
            <a:avLst/>
          </a:prstGeom>
          <a:solidFill>
            <a:srgbClr val="FFFFFF"/>
          </a:solidFill>
          <a:ln w="12700">
            <a:solidFill>
              <a:srgbClr val="E0E0E0"/>
            </a:solidFill>
          </a:ln>
        </p:spPr>
        <p:txBody>
          <a:bodyPr lIns="45719" rIns="45719"/>
          <a:lstStyle/>
          <a:p>
            <a:pPr/>
          </a:p>
        </p:txBody>
      </p:sp>
      <p:sp>
        <p:nvSpPr>
          <p:cNvPr id="388" name="Text 3"/>
          <p:cNvSpPr txBox="1"/>
          <p:nvPr/>
        </p:nvSpPr>
        <p:spPr>
          <a:xfrm>
            <a:off x="9728200" y="2971440"/>
            <a:ext cx="219456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i="1" sz="1400">
                <a:solidFill>
                  <a:srgbClr val="1A1A1A"/>
                </a:solidFill>
                <a:latin typeface="Georgia"/>
                <a:ea typeface="Georgia"/>
                <a:cs typeface="Georgia"/>
                <a:sym typeface="Georgia"/>
              </a:defRPr>
            </a:lvl1pPr>
          </a:lstStyle>
          <a:p>
            <a:pPr/>
            <a:r>
              <a:t>The original cause couldn't be reversed. The forests were gone. That door was closed.</a:t>
            </a:r>
          </a:p>
        </p:txBody>
      </p:sp>
      <p:grpSp>
        <p:nvGrpSpPr>
          <p:cNvPr id="391" name="Text 2"/>
          <p:cNvGrpSpPr/>
          <p:nvPr/>
        </p:nvGrpSpPr>
        <p:grpSpPr>
          <a:xfrm>
            <a:off x="1585878" y="709502"/>
            <a:ext cx="2357066" cy="915654"/>
            <a:chOff x="0" y="0"/>
            <a:chExt cx="2357064" cy="915652"/>
          </a:xfrm>
        </p:grpSpPr>
        <p:sp>
          <p:nvSpPr>
            <p:cNvPr id="389" name="Oval"/>
            <p:cNvSpPr/>
            <p:nvPr/>
          </p:nvSpPr>
          <p:spPr>
            <a:xfrm>
              <a:off x="0" y="0"/>
              <a:ext cx="2357065" cy="91565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90" name="Less vegetation. More soil erosion and sediment flowing into ponds with rainfall runoff"/>
            <p:cNvSpPr/>
            <p:nvPr/>
          </p:nvSpPr>
          <p:spPr>
            <a:xfrm>
              <a:off x="308528" y="468480"/>
              <a:ext cx="174425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394" name="Text 3"/>
          <p:cNvGrpSpPr/>
          <p:nvPr/>
        </p:nvGrpSpPr>
        <p:grpSpPr>
          <a:xfrm>
            <a:off x="4402860" y="869077"/>
            <a:ext cx="1783081" cy="731521"/>
            <a:chOff x="0" y="0"/>
            <a:chExt cx="1783080" cy="731520"/>
          </a:xfrm>
        </p:grpSpPr>
        <p:sp>
          <p:nvSpPr>
            <p:cNvPr id="392"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93"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397" name="Text 4"/>
          <p:cNvGrpSpPr/>
          <p:nvPr/>
        </p:nvGrpSpPr>
        <p:grpSpPr>
          <a:xfrm>
            <a:off x="6087172" y="297053"/>
            <a:ext cx="1188721" cy="412528"/>
            <a:chOff x="0" y="0"/>
            <a:chExt cx="1188719" cy="412526"/>
          </a:xfrm>
        </p:grpSpPr>
        <p:sp>
          <p:nvSpPr>
            <p:cNvPr id="395"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396"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grpSp>
        <p:nvGrpSpPr>
          <p:cNvPr id="400" name="Text 5"/>
          <p:cNvGrpSpPr/>
          <p:nvPr/>
        </p:nvGrpSpPr>
        <p:grpSpPr>
          <a:xfrm>
            <a:off x="6864411" y="869077"/>
            <a:ext cx="1645922" cy="731521"/>
            <a:chOff x="0" y="0"/>
            <a:chExt cx="1645920" cy="731520"/>
          </a:xfrm>
        </p:grpSpPr>
        <p:sp>
          <p:nvSpPr>
            <p:cNvPr id="398"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399"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403" name="Text 6"/>
          <p:cNvGrpSpPr/>
          <p:nvPr/>
        </p:nvGrpSpPr>
        <p:grpSpPr>
          <a:xfrm>
            <a:off x="1689740" y="1926355"/>
            <a:ext cx="1919793" cy="933760"/>
            <a:chOff x="0" y="0"/>
            <a:chExt cx="1919792" cy="933759"/>
          </a:xfrm>
        </p:grpSpPr>
        <p:sp>
          <p:nvSpPr>
            <p:cNvPr id="401"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02"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grpSp>
        <p:nvGrpSpPr>
          <p:cNvPr id="406" name="Text 7"/>
          <p:cNvGrpSpPr/>
          <p:nvPr/>
        </p:nvGrpSpPr>
        <p:grpSpPr>
          <a:xfrm>
            <a:off x="4402860" y="1942860"/>
            <a:ext cx="1783081" cy="687074"/>
            <a:chOff x="0" y="0"/>
            <a:chExt cx="1783080" cy="687072"/>
          </a:xfrm>
        </p:grpSpPr>
        <p:sp>
          <p:nvSpPr>
            <p:cNvPr id="404"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05"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409" name="Text 8"/>
          <p:cNvGrpSpPr/>
          <p:nvPr/>
        </p:nvGrpSpPr>
        <p:grpSpPr>
          <a:xfrm>
            <a:off x="6864412" y="1877427"/>
            <a:ext cx="1828801" cy="817940"/>
            <a:chOff x="0" y="0"/>
            <a:chExt cx="1828800" cy="817939"/>
          </a:xfrm>
        </p:grpSpPr>
        <p:sp>
          <p:nvSpPr>
            <p:cNvPr id="407"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08"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412" name="Text 9"/>
          <p:cNvGrpSpPr/>
          <p:nvPr/>
        </p:nvGrpSpPr>
        <p:grpSpPr>
          <a:xfrm>
            <a:off x="1761489" y="3273402"/>
            <a:ext cx="1962901" cy="841796"/>
            <a:chOff x="0" y="0"/>
            <a:chExt cx="1962899" cy="841795"/>
          </a:xfrm>
        </p:grpSpPr>
        <p:sp>
          <p:nvSpPr>
            <p:cNvPr id="410"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11"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415" name="Text 10"/>
          <p:cNvGrpSpPr/>
          <p:nvPr/>
        </p:nvGrpSpPr>
        <p:grpSpPr>
          <a:xfrm>
            <a:off x="4402860" y="3314965"/>
            <a:ext cx="1783080" cy="686064"/>
            <a:chOff x="0" y="0"/>
            <a:chExt cx="1783078" cy="686062"/>
          </a:xfrm>
        </p:grpSpPr>
        <p:sp>
          <p:nvSpPr>
            <p:cNvPr id="413"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14"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grpSp>
        <p:nvGrpSpPr>
          <p:cNvPr id="418" name="Text 11"/>
          <p:cNvGrpSpPr/>
          <p:nvPr/>
        </p:nvGrpSpPr>
        <p:grpSpPr>
          <a:xfrm>
            <a:off x="6864412" y="3307870"/>
            <a:ext cx="1828801" cy="700254"/>
            <a:chOff x="0" y="0"/>
            <a:chExt cx="1828800" cy="700253"/>
          </a:xfrm>
        </p:grpSpPr>
        <p:sp>
          <p:nvSpPr>
            <p:cNvPr id="416"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17"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pic>
        <p:nvPicPr>
          <p:cNvPr id="419" name="neg-lever.pngGoogle Shape;42;p3" descr="neg-lever.pngGoogle Shape;42;p3"/>
          <p:cNvPicPr>
            <a:picLocks noChangeAspect="1"/>
          </p:cNvPicPr>
          <p:nvPr/>
        </p:nvPicPr>
        <p:blipFill>
          <a:blip r:embed="rId5">
            <a:extLst/>
          </a:blip>
          <a:stretch>
            <a:fillRect/>
          </a:stretch>
        </p:blipFill>
        <p:spPr>
          <a:xfrm>
            <a:off x="245717" y="1360358"/>
            <a:ext cx="1203949" cy="1026894"/>
          </a:xfrm>
          <a:prstGeom prst="rect">
            <a:avLst/>
          </a:prstGeom>
          <a:ln w="12700">
            <a:miter lim="400000"/>
          </a:ln>
        </p:spPr>
      </p:pic>
      <p:sp>
        <p:nvSpPr>
          <p:cNvPr id="420" name="Google Shape;43;p3"/>
          <p:cNvSpPr txBox="1"/>
          <p:nvPr/>
        </p:nvSpPr>
        <p:spPr>
          <a:xfrm>
            <a:off x="183552" y="1662916"/>
            <a:ext cx="1328450" cy="421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p>
            <a:pPr algn="ctr">
              <a:defRPr b="1" sz="1100">
                <a:solidFill>
                  <a:srgbClr val="FFFFFF"/>
                </a:solidFill>
                <a:latin typeface="+mn-lt"/>
                <a:ea typeface="+mn-ea"/>
                <a:cs typeface="+mn-cs"/>
                <a:sym typeface="Helvetica"/>
              </a:defRPr>
            </a:pPr>
            <a:r>
              <a:t>Logging</a:t>
            </a:r>
          </a:p>
          <a:p>
            <a:pPr algn="ctr">
              <a:defRPr b="1" sz="1100">
                <a:solidFill>
                  <a:srgbClr val="FFFFFF"/>
                </a:solidFill>
                <a:latin typeface="+mn-lt"/>
                <a:ea typeface="+mn-ea"/>
                <a:cs typeface="+mn-cs"/>
                <a:sym typeface="Helvetica"/>
              </a:defRPr>
            </a:pPr>
            <a:r>
              <a:t> the forest</a:t>
            </a:r>
          </a:p>
        </p:txBody>
      </p:sp>
      <p:grpSp>
        <p:nvGrpSpPr>
          <p:cNvPr id="432" name="Group"/>
          <p:cNvGrpSpPr/>
          <p:nvPr/>
        </p:nvGrpSpPr>
        <p:grpSpPr>
          <a:xfrm>
            <a:off x="88161" y="3089000"/>
            <a:ext cx="1456736" cy="1137994"/>
            <a:chOff x="0" y="0"/>
            <a:chExt cx="1456734" cy="1137992"/>
          </a:xfrm>
        </p:grpSpPr>
        <p:sp>
          <p:nvSpPr>
            <p:cNvPr id="421"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422"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425" name="Group"/>
            <p:cNvGrpSpPr/>
            <p:nvPr/>
          </p:nvGrpSpPr>
          <p:grpSpPr>
            <a:xfrm>
              <a:off x="98270" y="517072"/>
              <a:ext cx="662039" cy="149764"/>
              <a:chOff x="0" y="0"/>
              <a:chExt cx="662038" cy="149762"/>
            </a:xfrm>
          </p:grpSpPr>
          <p:sp>
            <p:nvSpPr>
              <p:cNvPr id="423"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424"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428" name="Group"/>
            <p:cNvGrpSpPr/>
            <p:nvPr/>
          </p:nvGrpSpPr>
          <p:grpSpPr>
            <a:xfrm>
              <a:off x="98270" y="778418"/>
              <a:ext cx="620336" cy="162258"/>
              <a:chOff x="0" y="0"/>
              <a:chExt cx="620335" cy="162257"/>
            </a:xfrm>
          </p:grpSpPr>
          <p:sp>
            <p:nvSpPr>
              <p:cNvPr id="426"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427"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431" name="Group"/>
            <p:cNvGrpSpPr/>
            <p:nvPr/>
          </p:nvGrpSpPr>
          <p:grpSpPr>
            <a:xfrm>
              <a:off x="98270" y="227254"/>
              <a:ext cx="980569" cy="163196"/>
              <a:chOff x="50800" y="24178"/>
              <a:chExt cx="980568" cy="163195"/>
            </a:xfrm>
          </p:grpSpPr>
          <p:sp>
            <p:nvSpPr>
              <p:cNvPr id="429"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430" name="neg-lever.pngGoogle Shape;42;p3" descr="neg-lever.pngGoogle Shape;42;p3"/>
              <p:cNvPicPr>
                <a:picLocks noChangeAspect="1"/>
              </p:cNvPicPr>
              <p:nvPr/>
            </p:nvPicPr>
            <p:blipFill>
              <a:blip r:embed="rId5">
                <a:extLst/>
              </a:blip>
              <a:srcRect l="0" t="0" r="0" b="0"/>
              <a:stretch>
                <a:fillRect/>
              </a:stretch>
            </p:blipFill>
            <p:spPr>
              <a:xfrm>
                <a:off x="50800" y="24178"/>
                <a:ext cx="190603" cy="162574"/>
              </a:xfrm>
              <a:prstGeom prst="rect">
                <a:avLst/>
              </a:prstGeom>
              <a:ln w="12700" cap="flat">
                <a:noFill/>
                <a:miter lim="400000"/>
              </a:ln>
              <a:effectLst/>
            </p:spPr>
          </p:pic>
        </p:gr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436" name="n92.png" descr="n92.png"/>
          <p:cNvPicPr>
            <a:picLocks noChangeAspect="1"/>
          </p:cNvPicPr>
          <p:nvPr/>
        </p:nvPicPr>
        <p:blipFill>
          <a:blip r:embed="rId3">
            <a:extLst/>
          </a:blip>
          <a:stretch>
            <a:fillRect/>
          </a:stretch>
        </p:blipFill>
        <p:spPr>
          <a:xfrm>
            <a:off x="33902" y="68977"/>
            <a:ext cx="9076196" cy="5143501"/>
          </a:xfrm>
          <a:prstGeom prst="rect">
            <a:avLst/>
          </a:prstGeom>
          <a:ln w="12700">
            <a:miter lim="400000"/>
          </a:ln>
        </p:spPr>
      </p:pic>
      <p:sp>
        <p:nvSpPr>
          <p:cNvPr id="437"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438"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439"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In Rajasthan, the map was more complicated. Finding the lever took longer. The Rajasthan map has four loops. When the community found the right lever, all four began to shift. Not all at once, and not without effort. But the direction changed.</a:t>
            </a:r>
          </a:p>
        </p:txBody>
      </p:sp>
      <p:pic>
        <p:nvPicPr>
          <p:cNvPr id="440" name="ETP_Logo.svg" descr="ETP_Logo.svg"/>
          <p:cNvPicPr>
            <a:picLocks noChangeAspect="1"/>
          </p:cNvPicPr>
          <p:nvPr/>
        </p:nvPicPr>
        <p:blipFill>
          <a:blip r:embed="rId4">
            <a:extLst/>
          </a:blip>
          <a:stretch>
            <a:fillRect/>
          </a:stretch>
        </p:blipFill>
        <p:spPr>
          <a:xfrm>
            <a:off x="7912923" y="93416"/>
            <a:ext cx="1079386" cy="142352"/>
          </a:xfrm>
          <a:prstGeom prst="rect">
            <a:avLst/>
          </a:prstGeom>
          <a:ln w="12700">
            <a:miter lim="400000"/>
          </a:ln>
        </p:spPr>
      </p:pic>
      <p:sp>
        <p:nvSpPr>
          <p:cNvPr id="441" name="Shape 1"/>
          <p:cNvSpPr/>
          <p:nvPr/>
        </p:nvSpPr>
        <p:spPr>
          <a:xfrm>
            <a:off x="9499600" y="2798388"/>
            <a:ext cx="2651761" cy="1256638"/>
          </a:xfrm>
          <a:prstGeom prst="rect">
            <a:avLst/>
          </a:prstGeom>
          <a:solidFill>
            <a:srgbClr val="FFFFFF"/>
          </a:solidFill>
          <a:ln w="12700">
            <a:solidFill>
              <a:srgbClr val="E0E0E0"/>
            </a:solidFill>
          </a:ln>
        </p:spPr>
        <p:txBody>
          <a:bodyPr lIns="45719" rIns="45719"/>
          <a:lstStyle/>
          <a:p>
            <a:pPr/>
          </a:p>
        </p:txBody>
      </p:sp>
      <p:sp>
        <p:nvSpPr>
          <p:cNvPr id="442" name="Text 3"/>
          <p:cNvSpPr txBox="1"/>
          <p:nvPr/>
        </p:nvSpPr>
        <p:spPr>
          <a:xfrm>
            <a:off x="9728200" y="2971440"/>
            <a:ext cx="219456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i="1" sz="1400">
                <a:solidFill>
                  <a:srgbClr val="1A1A1A"/>
                </a:solidFill>
                <a:latin typeface="Georgia"/>
                <a:ea typeface="Georgia"/>
                <a:cs typeface="Georgia"/>
                <a:sym typeface="Georgia"/>
              </a:defRPr>
            </a:lvl1pPr>
          </a:lstStyle>
          <a:p>
            <a:pPr/>
            <a:r>
              <a:t>The original cause couldn't be reversed. The forests were gone. That door was closed.</a:t>
            </a:r>
          </a:p>
        </p:txBody>
      </p:sp>
      <p:grpSp>
        <p:nvGrpSpPr>
          <p:cNvPr id="454" name="Group"/>
          <p:cNvGrpSpPr/>
          <p:nvPr/>
        </p:nvGrpSpPr>
        <p:grpSpPr>
          <a:xfrm>
            <a:off x="88161" y="3089000"/>
            <a:ext cx="1456736" cy="1137994"/>
            <a:chOff x="0" y="0"/>
            <a:chExt cx="1456734" cy="1137992"/>
          </a:xfrm>
        </p:grpSpPr>
        <p:sp>
          <p:nvSpPr>
            <p:cNvPr id="443"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444"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447" name="Group"/>
            <p:cNvGrpSpPr/>
            <p:nvPr/>
          </p:nvGrpSpPr>
          <p:grpSpPr>
            <a:xfrm>
              <a:off x="98270" y="517072"/>
              <a:ext cx="662039" cy="149764"/>
              <a:chOff x="0" y="0"/>
              <a:chExt cx="662038" cy="149762"/>
            </a:xfrm>
          </p:grpSpPr>
          <p:sp>
            <p:nvSpPr>
              <p:cNvPr id="445"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446"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450" name="Group"/>
            <p:cNvGrpSpPr/>
            <p:nvPr/>
          </p:nvGrpSpPr>
          <p:grpSpPr>
            <a:xfrm>
              <a:off x="98270" y="778418"/>
              <a:ext cx="620336" cy="162258"/>
              <a:chOff x="0" y="0"/>
              <a:chExt cx="620335" cy="162257"/>
            </a:xfrm>
          </p:grpSpPr>
          <p:sp>
            <p:nvSpPr>
              <p:cNvPr id="448"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449"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453" name="Group"/>
            <p:cNvGrpSpPr/>
            <p:nvPr/>
          </p:nvGrpSpPr>
          <p:grpSpPr>
            <a:xfrm>
              <a:off x="98270" y="227254"/>
              <a:ext cx="980569" cy="163196"/>
              <a:chOff x="50800" y="24178"/>
              <a:chExt cx="980568" cy="163195"/>
            </a:xfrm>
          </p:grpSpPr>
          <p:sp>
            <p:nvSpPr>
              <p:cNvPr id="451"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452" name="neg-lever.pngGoogle Shape;42;p3" descr="neg-lever.pngGoogle Shape;42;p3"/>
              <p:cNvPicPr>
                <a:picLocks noChangeAspect="1"/>
              </p:cNvPicPr>
              <p:nvPr/>
            </p:nvPicPr>
            <p:blipFill>
              <a:blip r:embed="rId5">
                <a:extLst/>
              </a:blip>
              <a:srcRect l="0" t="0" r="0" b="0"/>
              <a:stretch>
                <a:fillRect/>
              </a:stretch>
            </p:blipFill>
            <p:spPr>
              <a:xfrm>
                <a:off x="50800" y="24178"/>
                <a:ext cx="190603" cy="162574"/>
              </a:xfrm>
              <a:prstGeom prst="rect">
                <a:avLst/>
              </a:prstGeom>
              <a:ln w="12700" cap="flat">
                <a:noFill/>
                <a:miter lim="400000"/>
              </a:ln>
              <a:effectLst/>
            </p:spPr>
          </p:pic>
        </p:grpSp>
      </p:grpSp>
      <p:grpSp>
        <p:nvGrpSpPr>
          <p:cNvPr id="457" name="Text 2"/>
          <p:cNvGrpSpPr/>
          <p:nvPr/>
        </p:nvGrpSpPr>
        <p:grpSpPr>
          <a:xfrm>
            <a:off x="1792568" y="727988"/>
            <a:ext cx="2150376" cy="878682"/>
            <a:chOff x="0" y="0"/>
            <a:chExt cx="2150375" cy="878681"/>
          </a:xfrm>
        </p:grpSpPr>
        <p:sp>
          <p:nvSpPr>
            <p:cNvPr id="455" name="Oval"/>
            <p:cNvSpPr/>
            <p:nvPr/>
          </p:nvSpPr>
          <p:spPr>
            <a:xfrm>
              <a:off x="0" y="0"/>
              <a:ext cx="2150376" cy="87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56" name="Less vegetation. More soil erosion and sediment flowing into ponds with rainfall runoff"/>
            <p:cNvSpPr txBox="1"/>
            <p:nvPr/>
          </p:nvSpPr>
          <p:spPr>
            <a:xfrm>
              <a:off x="184553" y="226220"/>
              <a:ext cx="1673830" cy="4466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460" name="Text 3"/>
          <p:cNvGrpSpPr/>
          <p:nvPr/>
        </p:nvGrpSpPr>
        <p:grpSpPr>
          <a:xfrm>
            <a:off x="4402860" y="869077"/>
            <a:ext cx="1783081" cy="731521"/>
            <a:chOff x="0" y="0"/>
            <a:chExt cx="1783080" cy="731520"/>
          </a:xfrm>
        </p:grpSpPr>
        <p:sp>
          <p:nvSpPr>
            <p:cNvPr id="458"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59"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463" name="Text 4"/>
          <p:cNvGrpSpPr/>
          <p:nvPr/>
        </p:nvGrpSpPr>
        <p:grpSpPr>
          <a:xfrm>
            <a:off x="6087172" y="297053"/>
            <a:ext cx="1188721" cy="412528"/>
            <a:chOff x="0" y="0"/>
            <a:chExt cx="1188719" cy="412526"/>
          </a:xfrm>
        </p:grpSpPr>
        <p:sp>
          <p:nvSpPr>
            <p:cNvPr id="461"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62"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grpSp>
        <p:nvGrpSpPr>
          <p:cNvPr id="466" name="Text 5"/>
          <p:cNvGrpSpPr/>
          <p:nvPr/>
        </p:nvGrpSpPr>
        <p:grpSpPr>
          <a:xfrm>
            <a:off x="6864411" y="869077"/>
            <a:ext cx="1645922" cy="731521"/>
            <a:chOff x="0" y="0"/>
            <a:chExt cx="1645920" cy="731520"/>
          </a:xfrm>
        </p:grpSpPr>
        <p:sp>
          <p:nvSpPr>
            <p:cNvPr id="464"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65"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469" name="Text 6"/>
          <p:cNvGrpSpPr/>
          <p:nvPr/>
        </p:nvGrpSpPr>
        <p:grpSpPr>
          <a:xfrm>
            <a:off x="1689740" y="1926355"/>
            <a:ext cx="1919793" cy="933760"/>
            <a:chOff x="0" y="0"/>
            <a:chExt cx="1919792" cy="933759"/>
          </a:xfrm>
        </p:grpSpPr>
        <p:sp>
          <p:nvSpPr>
            <p:cNvPr id="467"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68"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grpSp>
        <p:nvGrpSpPr>
          <p:cNvPr id="472" name="Text 7"/>
          <p:cNvGrpSpPr/>
          <p:nvPr/>
        </p:nvGrpSpPr>
        <p:grpSpPr>
          <a:xfrm>
            <a:off x="4402860" y="1942860"/>
            <a:ext cx="1783081" cy="687074"/>
            <a:chOff x="0" y="0"/>
            <a:chExt cx="1783080" cy="687072"/>
          </a:xfrm>
        </p:grpSpPr>
        <p:sp>
          <p:nvSpPr>
            <p:cNvPr id="470"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71"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475" name="Text 8"/>
          <p:cNvGrpSpPr/>
          <p:nvPr/>
        </p:nvGrpSpPr>
        <p:grpSpPr>
          <a:xfrm>
            <a:off x="6864412" y="1877427"/>
            <a:ext cx="1828801" cy="817940"/>
            <a:chOff x="0" y="0"/>
            <a:chExt cx="1828800" cy="817939"/>
          </a:xfrm>
        </p:grpSpPr>
        <p:sp>
          <p:nvSpPr>
            <p:cNvPr id="473"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74"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478" name="Text 9"/>
          <p:cNvGrpSpPr/>
          <p:nvPr/>
        </p:nvGrpSpPr>
        <p:grpSpPr>
          <a:xfrm>
            <a:off x="1761489" y="3273402"/>
            <a:ext cx="1962901" cy="841796"/>
            <a:chOff x="0" y="0"/>
            <a:chExt cx="1962899" cy="841795"/>
          </a:xfrm>
        </p:grpSpPr>
        <p:sp>
          <p:nvSpPr>
            <p:cNvPr id="476"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477"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481" name="Text 10"/>
          <p:cNvGrpSpPr/>
          <p:nvPr/>
        </p:nvGrpSpPr>
        <p:grpSpPr>
          <a:xfrm>
            <a:off x="4402860" y="3314965"/>
            <a:ext cx="1783080" cy="686064"/>
            <a:chOff x="0" y="0"/>
            <a:chExt cx="1783078" cy="686062"/>
          </a:xfrm>
        </p:grpSpPr>
        <p:sp>
          <p:nvSpPr>
            <p:cNvPr id="479"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80"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grpSp>
        <p:nvGrpSpPr>
          <p:cNvPr id="484" name="Text 11"/>
          <p:cNvGrpSpPr/>
          <p:nvPr/>
        </p:nvGrpSpPr>
        <p:grpSpPr>
          <a:xfrm>
            <a:off x="6864412" y="3307870"/>
            <a:ext cx="1828801" cy="700254"/>
            <a:chOff x="0" y="0"/>
            <a:chExt cx="1828800" cy="700253"/>
          </a:xfrm>
        </p:grpSpPr>
        <p:sp>
          <p:nvSpPr>
            <p:cNvPr id="482"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483"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sp>
        <p:nvSpPr>
          <p:cNvPr id="485" name="Rectangle"/>
          <p:cNvSpPr/>
          <p:nvPr/>
        </p:nvSpPr>
        <p:spPr>
          <a:xfrm>
            <a:off x="1552018" y="1845402"/>
            <a:ext cx="7484765" cy="2328011"/>
          </a:xfrm>
          <a:prstGeom prst="rect">
            <a:avLst/>
          </a:prstGeom>
          <a:solidFill>
            <a:srgbClr val="FFFAF7">
              <a:alpha val="77196"/>
            </a:srgbClr>
          </a:solidFill>
          <a:ln w="12700">
            <a:miter lim="400000"/>
          </a:ln>
        </p:spPr>
        <p:txBody>
          <a:bodyPr lIns="45719" rIns="45719" anchor="ctr"/>
          <a:lstStyle/>
          <a:p>
            <a:pPr/>
          </a:p>
        </p:txBody>
      </p:sp>
      <p:sp>
        <p:nvSpPr>
          <p:cNvPr id="486" name="Rectangle"/>
          <p:cNvSpPr/>
          <p:nvPr/>
        </p:nvSpPr>
        <p:spPr>
          <a:xfrm>
            <a:off x="939918" y="297514"/>
            <a:ext cx="8131405" cy="1559420"/>
          </a:xfrm>
          <a:prstGeom prst="rect">
            <a:avLst/>
          </a:prstGeom>
          <a:solidFill>
            <a:srgbClr val="FFFAF7">
              <a:alpha val="77196"/>
            </a:srgbClr>
          </a:solidFill>
          <a:ln w="12700">
            <a:miter lim="400000"/>
          </a:ln>
        </p:spPr>
        <p:txBody>
          <a:bodyPr lIns="45719" rIns="45719" anchor="ctr"/>
          <a:lstStyle/>
          <a:p>
            <a:pPr/>
          </a:p>
        </p:txBody>
      </p:sp>
      <p:grpSp>
        <p:nvGrpSpPr>
          <p:cNvPr id="489" name="Group"/>
          <p:cNvGrpSpPr/>
          <p:nvPr/>
        </p:nvGrpSpPr>
        <p:grpSpPr>
          <a:xfrm>
            <a:off x="2079799" y="1116078"/>
            <a:ext cx="2923006" cy="1269338"/>
            <a:chOff x="0" y="0"/>
            <a:chExt cx="2923004" cy="1269336"/>
          </a:xfrm>
        </p:grpSpPr>
        <p:sp>
          <p:nvSpPr>
            <p:cNvPr id="487" name="Shape 1"/>
            <p:cNvSpPr/>
            <p:nvPr/>
          </p:nvSpPr>
          <p:spPr>
            <a:xfrm>
              <a:off x="0" y="0"/>
              <a:ext cx="2923005" cy="1269337"/>
            </a:xfrm>
            <a:prstGeom prst="rect">
              <a:avLst/>
            </a:prstGeom>
            <a:solidFill>
              <a:srgbClr val="475A6D"/>
            </a:solidFill>
            <a:ln w="12700" cap="flat">
              <a:solidFill>
                <a:srgbClr val="E0E0E0"/>
              </a:solidFill>
              <a:prstDash val="solid"/>
              <a:round/>
            </a:ln>
            <a:effectLst/>
          </p:spPr>
          <p:txBody>
            <a:bodyPr wrap="square" lIns="45719" tIns="45719" rIns="45719" bIns="45719" numCol="1" anchor="t">
              <a:noAutofit/>
            </a:bodyPr>
            <a:lstStyle/>
            <a:p>
              <a:pPr/>
            </a:p>
          </p:txBody>
        </p:sp>
        <p:sp>
          <p:nvSpPr>
            <p:cNvPr id="488" name="Text 3"/>
            <p:cNvSpPr txBox="1"/>
            <p:nvPr/>
          </p:nvSpPr>
          <p:spPr>
            <a:xfrm>
              <a:off x="261650" y="196135"/>
              <a:ext cx="2511846" cy="9109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p>
              <a:pPr>
                <a:spcBef>
                  <a:spcPts val="600"/>
                </a:spcBef>
                <a:defRPr b="1" sz="1600">
                  <a:solidFill>
                    <a:srgbClr val="FFFAF7"/>
                  </a:solidFill>
                </a:defRPr>
              </a:pPr>
              <a:r>
                <a:t>The root cause could not </a:t>
              </a:r>
              <a:br/>
              <a:r>
                <a:t>be reversed. The forests were gone. That door was closed.</a:t>
              </a:r>
            </a:p>
          </p:txBody>
        </p:sp>
      </p:grpSp>
      <p:pic>
        <p:nvPicPr>
          <p:cNvPr id="490" name="greyArrow.png" descr="greyArrow.png"/>
          <p:cNvPicPr>
            <a:picLocks noChangeAspect="1"/>
          </p:cNvPicPr>
          <p:nvPr/>
        </p:nvPicPr>
        <p:blipFill>
          <a:blip r:embed="rId6">
            <a:extLst/>
          </a:blip>
          <a:stretch>
            <a:fillRect/>
          </a:stretch>
        </p:blipFill>
        <p:spPr>
          <a:xfrm rot="16868423">
            <a:off x="1694157" y="1510365"/>
            <a:ext cx="475934" cy="726880"/>
          </a:xfrm>
          <a:prstGeom prst="rect">
            <a:avLst/>
          </a:prstGeom>
          <a:ln w="12700">
            <a:miter lim="400000"/>
          </a:ln>
        </p:spPr>
      </p:pic>
      <p:grpSp>
        <p:nvGrpSpPr>
          <p:cNvPr id="493" name="Group"/>
          <p:cNvGrpSpPr/>
          <p:nvPr/>
        </p:nvGrpSpPr>
        <p:grpSpPr>
          <a:xfrm>
            <a:off x="183552" y="1360358"/>
            <a:ext cx="1328450" cy="1026894"/>
            <a:chOff x="0" y="0"/>
            <a:chExt cx="1328448" cy="1026893"/>
          </a:xfrm>
        </p:grpSpPr>
        <p:pic>
          <p:nvPicPr>
            <p:cNvPr id="491" name="neg-lever.pngGoogle Shape;42;p3" descr="neg-lever.pngGoogle Shape;42;p3"/>
            <p:cNvPicPr>
              <a:picLocks noChangeAspect="1"/>
            </p:cNvPicPr>
            <p:nvPr/>
          </p:nvPicPr>
          <p:blipFill>
            <a:blip r:embed="rId5">
              <a:extLst/>
            </a:blip>
            <a:srcRect l="0" t="0" r="0" b="0"/>
            <a:stretch>
              <a:fillRect/>
            </a:stretch>
          </p:blipFill>
          <p:spPr>
            <a:xfrm>
              <a:off x="62165" y="0"/>
              <a:ext cx="1203949" cy="1026894"/>
            </a:xfrm>
            <a:prstGeom prst="rect">
              <a:avLst/>
            </a:prstGeom>
            <a:ln w="12700" cap="flat">
              <a:noFill/>
              <a:miter lim="400000"/>
            </a:ln>
            <a:effectLst/>
          </p:spPr>
        </p:pic>
        <p:sp>
          <p:nvSpPr>
            <p:cNvPr id="492" name="Google Shape;43;p3"/>
            <p:cNvSpPr txBox="1"/>
            <p:nvPr/>
          </p:nvSpPr>
          <p:spPr>
            <a:xfrm>
              <a:off x="0" y="302557"/>
              <a:ext cx="1328449" cy="421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p>
              <a:pPr algn="ctr">
                <a:defRPr b="1" sz="1100">
                  <a:solidFill>
                    <a:srgbClr val="FFFFFF"/>
                  </a:solidFill>
                  <a:latin typeface="+mn-lt"/>
                  <a:ea typeface="+mn-ea"/>
                  <a:cs typeface="+mn-cs"/>
                  <a:sym typeface="Helvetica"/>
                </a:defRPr>
              </a:pPr>
              <a:r>
                <a:t>Logging</a:t>
              </a:r>
            </a:p>
            <a:p>
              <a:pPr algn="ctr">
                <a:defRPr b="1" sz="1100">
                  <a:solidFill>
                    <a:srgbClr val="FFFFFF"/>
                  </a:solidFill>
                  <a:latin typeface="+mn-lt"/>
                  <a:ea typeface="+mn-ea"/>
                  <a:cs typeface="+mn-cs"/>
                  <a:sym typeface="Helvetica"/>
                </a:defRPr>
              </a:pPr>
              <a:r>
                <a:t> the forest</a:t>
              </a:r>
            </a:p>
          </p:txBody>
        </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497" name="n92.png" descr="n92.png"/>
          <p:cNvPicPr>
            <a:picLocks noChangeAspect="1"/>
          </p:cNvPicPr>
          <p:nvPr/>
        </p:nvPicPr>
        <p:blipFill>
          <a:blip r:embed="rId3">
            <a:extLst/>
          </a:blip>
          <a:stretch>
            <a:fillRect/>
          </a:stretch>
        </p:blipFill>
        <p:spPr>
          <a:xfrm>
            <a:off x="33902" y="68977"/>
            <a:ext cx="9076196" cy="5143501"/>
          </a:xfrm>
          <a:prstGeom prst="rect">
            <a:avLst/>
          </a:prstGeom>
          <a:ln w="12700">
            <a:miter lim="400000"/>
          </a:ln>
        </p:spPr>
      </p:pic>
      <p:grpSp>
        <p:nvGrpSpPr>
          <p:cNvPr id="509" name="Group"/>
          <p:cNvGrpSpPr/>
          <p:nvPr/>
        </p:nvGrpSpPr>
        <p:grpSpPr>
          <a:xfrm>
            <a:off x="88161" y="3089000"/>
            <a:ext cx="1456736" cy="1137994"/>
            <a:chOff x="0" y="0"/>
            <a:chExt cx="1456734" cy="1137992"/>
          </a:xfrm>
        </p:grpSpPr>
        <p:sp>
          <p:nvSpPr>
            <p:cNvPr id="498"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499"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502" name="Group"/>
            <p:cNvGrpSpPr/>
            <p:nvPr/>
          </p:nvGrpSpPr>
          <p:grpSpPr>
            <a:xfrm>
              <a:off x="98270" y="517072"/>
              <a:ext cx="662039" cy="149764"/>
              <a:chOff x="0" y="0"/>
              <a:chExt cx="662038" cy="149762"/>
            </a:xfrm>
          </p:grpSpPr>
          <p:sp>
            <p:nvSpPr>
              <p:cNvPr id="500"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01"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505" name="Group"/>
            <p:cNvGrpSpPr/>
            <p:nvPr/>
          </p:nvGrpSpPr>
          <p:grpSpPr>
            <a:xfrm>
              <a:off x="98270" y="778418"/>
              <a:ext cx="620336" cy="162258"/>
              <a:chOff x="0" y="0"/>
              <a:chExt cx="620335" cy="162257"/>
            </a:xfrm>
          </p:grpSpPr>
          <p:sp>
            <p:nvSpPr>
              <p:cNvPr id="503"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04"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508" name="Group"/>
            <p:cNvGrpSpPr/>
            <p:nvPr/>
          </p:nvGrpSpPr>
          <p:grpSpPr>
            <a:xfrm>
              <a:off x="98270" y="227254"/>
              <a:ext cx="980569" cy="163196"/>
              <a:chOff x="50800" y="24178"/>
              <a:chExt cx="980568" cy="163195"/>
            </a:xfrm>
          </p:grpSpPr>
          <p:sp>
            <p:nvSpPr>
              <p:cNvPr id="506"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507"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510"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511"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512"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In Rajasthan, the map was more complicated. Finding the lever took longer. The Rajasthan map has four loops. When the community found the right lever, all four began to shift. Not all at once, and not without effort. But the direction changed.</a:t>
            </a:r>
          </a:p>
        </p:txBody>
      </p:sp>
      <p:pic>
        <p:nvPicPr>
          <p:cNvPr id="513"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
        <p:nvSpPr>
          <p:cNvPr id="514" name="Shape 1"/>
          <p:cNvSpPr/>
          <p:nvPr/>
        </p:nvSpPr>
        <p:spPr>
          <a:xfrm>
            <a:off x="9499600" y="2798388"/>
            <a:ext cx="2651761" cy="1256638"/>
          </a:xfrm>
          <a:prstGeom prst="rect">
            <a:avLst/>
          </a:prstGeom>
          <a:solidFill>
            <a:srgbClr val="FFFFFF"/>
          </a:solidFill>
          <a:ln w="12700">
            <a:solidFill>
              <a:srgbClr val="E0E0E0"/>
            </a:solidFill>
          </a:ln>
        </p:spPr>
        <p:txBody>
          <a:bodyPr lIns="45719" rIns="45719"/>
          <a:lstStyle/>
          <a:p>
            <a:pPr/>
          </a:p>
        </p:txBody>
      </p:sp>
      <p:sp>
        <p:nvSpPr>
          <p:cNvPr id="515" name="Text 3"/>
          <p:cNvSpPr txBox="1"/>
          <p:nvPr/>
        </p:nvSpPr>
        <p:spPr>
          <a:xfrm>
            <a:off x="9728200" y="2971440"/>
            <a:ext cx="219456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i="1" sz="1400">
                <a:solidFill>
                  <a:srgbClr val="1A1A1A"/>
                </a:solidFill>
                <a:latin typeface="Georgia"/>
                <a:ea typeface="Georgia"/>
                <a:cs typeface="Georgia"/>
                <a:sym typeface="Georgia"/>
              </a:defRPr>
            </a:lvl1pPr>
          </a:lstStyle>
          <a:p>
            <a:pPr/>
            <a:r>
              <a:t>The original cause couldn't be reversed. The forests were gone. That door was closed.</a:t>
            </a:r>
          </a:p>
        </p:txBody>
      </p:sp>
      <p:grpSp>
        <p:nvGrpSpPr>
          <p:cNvPr id="518" name="Text 2"/>
          <p:cNvGrpSpPr/>
          <p:nvPr/>
        </p:nvGrpSpPr>
        <p:grpSpPr>
          <a:xfrm>
            <a:off x="1792568" y="727988"/>
            <a:ext cx="2150376" cy="878682"/>
            <a:chOff x="0" y="0"/>
            <a:chExt cx="2150375" cy="878681"/>
          </a:xfrm>
        </p:grpSpPr>
        <p:sp>
          <p:nvSpPr>
            <p:cNvPr id="516" name="Oval"/>
            <p:cNvSpPr/>
            <p:nvPr/>
          </p:nvSpPr>
          <p:spPr>
            <a:xfrm>
              <a:off x="0" y="0"/>
              <a:ext cx="2150376" cy="87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17" name="Less vegetation. More soil erosion and sediment flowing into ponds with rainfall runoff"/>
            <p:cNvSpPr txBox="1"/>
            <p:nvPr/>
          </p:nvSpPr>
          <p:spPr>
            <a:xfrm>
              <a:off x="184553" y="226220"/>
              <a:ext cx="1673830" cy="4466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521" name="Text 3"/>
          <p:cNvGrpSpPr/>
          <p:nvPr/>
        </p:nvGrpSpPr>
        <p:grpSpPr>
          <a:xfrm>
            <a:off x="4402860" y="869077"/>
            <a:ext cx="1783081" cy="731521"/>
            <a:chOff x="0" y="0"/>
            <a:chExt cx="1783080" cy="731520"/>
          </a:xfrm>
        </p:grpSpPr>
        <p:sp>
          <p:nvSpPr>
            <p:cNvPr id="519"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20"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524" name="Text 4"/>
          <p:cNvGrpSpPr/>
          <p:nvPr/>
        </p:nvGrpSpPr>
        <p:grpSpPr>
          <a:xfrm>
            <a:off x="6087172" y="297053"/>
            <a:ext cx="1188721" cy="412528"/>
            <a:chOff x="0" y="0"/>
            <a:chExt cx="1188719" cy="412526"/>
          </a:xfrm>
        </p:grpSpPr>
        <p:sp>
          <p:nvSpPr>
            <p:cNvPr id="522"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523"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grpSp>
        <p:nvGrpSpPr>
          <p:cNvPr id="527" name="Text 5"/>
          <p:cNvGrpSpPr/>
          <p:nvPr/>
        </p:nvGrpSpPr>
        <p:grpSpPr>
          <a:xfrm>
            <a:off x="6864411" y="869077"/>
            <a:ext cx="1645922" cy="731521"/>
            <a:chOff x="0" y="0"/>
            <a:chExt cx="1645920" cy="731520"/>
          </a:xfrm>
        </p:grpSpPr>
        <p:sp>
          <p:nvSpPr>
            <p:cNvPr id="525"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26"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530" name="Text 6"/>
          <p:cNvGrpSpPr/>
          <p:nvPr/>
        </p:nvGrpSpPr>
        <p:grpSpPr>
          <a:xfrm>
            <a:off x="1689740" y="1926355"/>
            <a:ext cx="1919793" cy="933760"/>
            <a:chOff x="0" y="0"/>
            <a:chExt cx="1919792" cy="933759"/>
          </a:xfrm>
        </p:grpSpPr>
        <p:sp>
          <p:nvSpPr>
            <p:cNvPr id="528"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29"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grpSp>
        <p:nvGrpSpPr>
          <p:cNvPr id="533" name="Text 7"/>
          <p:cNvGrpSpPr/>
          <p:nvPr/>
        </p:nvGrpSpPr>
        <p:grpSpPr>
          <a:xfrm>
            <a:off x="4402860" y="1942860"/>
            <a:ext cx="1783081" cy="687074"/>
            <a:chOff x="0" y="0"/>
            <a:chExt cx="1783080" cy="687072"/>
          </a:xfrm>
        </p:grpSpPr>
        <p:sp>
          <p:nvSpPr>
            <p:cNvPr id="531"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32"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536" name="Text 8"/>
          <p:cNvGrpSpPr/>
          <p:nvPr/>
        </p:nvGrpSpPr>
        <p:grpSpPr>
          <a:xfrm>
            <a:off x="6864412" y="1877427"/>
            <a:ext cx="1828801" cy="817940"/>
            <a:chOff x="0" y="0"/>
            <a:chExt cx="1828800" cy="817939"/>
          </a:xfrm>
        </p:grpSpPr>
        <p:sp>
          <p:nvSpPr>
            <p:cNvPr id="534"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35"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539" name="Text 9"/>
          <p:cNvGrpSpPr/>
          <p:nvPr/>
        </p:nvGrpSpPr>
        <p:grpSpPr>
          <a:xfrm>
            <a:off x="1761489" y="3273402"/>
            <a:ext cx="1962901" cy="841796"/>
            <a:chOff x="0" y="0"/>
            <a:chExt cx="1962899" cy="841795"/>
          </a:xfrm>
        </p:grpSpPr>
        <p:sp>
          <p:nvSpPr>
            <p:cNvPr id="537"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38"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542" name="Text 10"/>
          <p:cNvGrpSpPr/>
          <p:nvPr/>
        </p:nvGrpSpPr>
        <p:grpSpPr>
          <a:xfrm>
            <a:off x="4402860" y="3314965"/>
            <a:ext cx="1783080" cy="686064"/>
            <a:chOff x="0" y="0"/>
            <a:chExt cx="1783078" cy="686062"/>
          </a:xfrm>
        </p:grpSpPr>
        <p:sp>
          <p:nvSpPr>
            <p:cNvPr id="540"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541"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pic>
        <p:nvPicPr>
          <p:cNvPr id="543" name="neg-lever.pngGoogle Shape;42;p3" descr="neg-lever.pngGoogle Shape;42;p3"/>
          <p:cNvPicPr>
            <a:picLocks noChangeAspect="1"/>
          </p:cNvPicPr>
          <p:nvPr/>
        </p:nvPicPr>
        <p:blipFill>
          <a:blip r:embed="rId4">
            <a:extLst/>
          </a:blip>
          <a:stretch>
            <a:fillRect/>
          </a:stretch>
        </p:blipFill>
        <p:spPr>
          <a:xfrm>
            <a:off x="245717" y="1360358"/>
            <a:ext cx="1203949" cy="1026894"/>
          </a:xfrm>
          <a:prstGeom prst="rect">
            <a:avLst/>
          </a:prstGeom>
          <a:ln w="12700">
            <a:miter lim="400000"/>
          </a:ln>
        </p:spPr>
      </p:pic>
      <p:sp>
        <p:nvSpPr>
          <p:cNvPr id="544" name="Google Shape;43;p3"/>
          <p:cNvSpPr txBox="1"/>
          <p:nvPr/>
        </p:nvSpPr>
        <p:spPr>
          <a:xfrm>
            <a:off x="183552" y="1662916"/>
            <a:ext cx="1328450" cy="421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p>
            <a:pPr algn="ctr">
              <a:defRPr b="1" sz="1100">
                <a:solidFill>
                  <a:srgbClr val="FFFFFF"/>
                </a:solidFill>
                <a:latin typeface="+mn-lt"/>
                <a:ea typeface="+mn-ea"/>
                <a:cs typeface="+mn-cs"/>
                <a:sym typeface="Helvetica"/>
              </a:defRPr>
            </a:pPr>
            <a:r>
              <a:t>Logging</a:t>
            </a:r>
          </a:p>
          <a:p>
            <a:pPr algn="ctr">
              <a:defRPr b="1" sz="1100">
                <a:solidFill>
                  <a:srgbClr val="FFFFFF"/>
                </a:solidFill>
                <a:latin typeface="+mn-lt"/>
                <a:ea typeface="+mn-ea"/>
                <a:cs typeface="+mn-cs"/>
                <a:sym typeface="Helvetica"/>
              </a:defRPr>
            </a:pPr>
            <a:r>
              <a:t> the forest</a:t>
            </a:r>
          </a:p>
        </p:txBody>
      </p:sp>
      <p:sp>
        <p:nvSpPr>
          <p:cNvPr id="545" name="Rectangle"/>
          <p:cNvSpPr/>
          <p:nvPr/>
        </p:nvSpPr>
        <p:spPr>
          <a:xfrm>
            <a:off x="-107218" y="281193"/>
            <a:ext cx="9459820" cy="4010409"/>
          </a:xfrm>
          <a:prstGeom prst="rect">
            <a:avLst/>
          </a:prstGeom>
          <a:solidFill>
            <a:srgbClr val="FFFAF7">
              <a:alpha val="77196"/>
            </a:srgbClr>
          </a:solidFill>
          <a:ln w="12700">
            <a:miter lim="400000"/>
          </a:ln>
        </p:spPr>
        <p:txBody>
          <a:bodyPr lIns="45719" rIns="45719" anchor="ctr"/>
          <a:lstStyle/>
          <a:p>
            <a:pPr/>
          </a:p>
        </p:txBody>
      </p:sp>
      <p:grpSp>
        <p:nvGrpSpPr>
          <p:cNvPr id="548" name="Group"/>
          <p:cNvGrpSpPr/>
          <p:nvPr/>
        </p:nvGrpSpPr>
        <p:grpSpPr>
          <a:xfrm>
            <a:off x="5432002" y="1349204"/>
            <a:ext cx="3065449" cy="1448688"/>
            <a:chOff x="0" y="0"/>
            <a:chExt cx="3065448" cy="1448686"/>
          </a:xfrm>
        </p:grpSpPr>
        <p:sp>
          <p:nvSpPr>
            <p:cNvPr id="546" name="Shape 1"/>
            <p:cNvSpPr/>
            <p:nvPr/>
          </p:nvSpPr>
          <p:spPr>
            <a:xfrm>
              <a:off x="0" y="0"/>
              <a:ext cx="3065449" cy="1448687"/>
            </a:xfrm>
            <a:prstGeom prst="rect">
              <a:avLst/>
            </a:prstGeom>
            <a:solidFill>
              <a:srgbClr val="475A6D"/>
            </a:solidFill>
            <a:ln w="12700" cap="flat">
              <a:solidFill>
                <a:srgbClr val="E0E0E0"/>
              </a:solidFill>
              <a:prstDash val="solid"/>
              <a:round/>
            </a:ln>
            <a:effectLst/>
          </p:spPr>
          <p:txBody>
            <a:bodyPr wrap="square" lIns="45719" tIns="45719" rIns="45719" bIns="45719" numCol="1" anchor="t">
              <a:noAutofit/>
            </a:bodyPr>
            <a:lstStyle/>
            <a:p>
              <a:pPr/>
            </a:p>
          </p:txBody>
        </p:sp>
        <p:sp>
          <p:nvSpPr>
            <p:cNvPr id="547" name="Text 3"/>
            <p:cNvSpPr txBox="1"/>
            <p:nvPr/>
          </p:nvSpPr>
          <p:spPr>
            <a:xfrm>
              <a:off x="274401" y="223848"/>
              <a:ext cx="2634252" cy="1039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a:spcBef>
                  <a:spcPts val="600"/>
                </a:spcBef>
                <a:defRPr b="1" sz="1700">
                  <a:solidFill>
                    <a:srgbClr val="FFFAF7"/>
                  </a:solidFill>
                </a:defRPr>
              </a:lvl1pPr>
            </a:lstStyle>
            <a:p>
              <a:pPr/>
              <a:r>
                <a:t>Migration to the cities can't be reversed when the agricultural work at home has dried up.</a:t>
              </a:r>
            </a:p>
          </p:txBody>
        </p:sp>
      </p:grpSp>
      <p:grpSp>
        <p:nvGrpSpPr>
          <p:cNvPr id="551" name="Text 11"/>
          <p:cNvGrpSpPr/>
          <p:nvPr/>
        </p:nvGrpSpPr>
        <p:grpSpPr>
          <a:xfrm>
            <a:off x="6864412" y="3307870"/>
            <a:ext cx="1828801" cy="700254"/>
            <a:chOff x="0" y="0"/>
            <a:chExt cx="1828800" cy="700253"/>
          </a:xfrm>
        </p:grpSpPr>
        <p:sp>
          <p:nvSpPr>
            <p:cNvPr id="549"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550"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pic>
        <p:nvPicPr>
          <p:cNvPr id="552" name="greyArrow.png" descr="greyArrow.png"/>
          <p:cNvPicPr>
            <a:picLocks noChangeAspect="1"/>
          </p:cNvPicPr>
          <p:nvPr/>
        </p:nvPicPr>
        <p:blipFill>
          <a:blip r:embed="rId6">
            <a:extLst/>
          </a:blip>
          <a:stretch>
            <a:fillRect/>
          </a:stretch>
        </p:blipFill>
        <p:spPr>
          <a:xfrm rot="10800000">
            <a:off x="7335100" y="2540555"/>
            <a:ext cx="475934" cy="72688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556" name="n92.png" descr="n92.png"/>
          <p:cNvPicPr>
            <a:picLocks noChangeAspect="1"/>
          </p:cNvPicPr>
          <p:nvPr/>
        </p:nvPicPr>
        <p:blipFill>
          <a:blip r:embed="rId3">
            <a:extLst/>
          </a:blip>
          <a:stretch>
            <a:fillRect/>
          </a:stretch>
        </p:blipFill>
        <p:spPr>
          <a:xfrm>
            <a:off x="33902" y="68977"/>
            <a:ext cx="9076196" cy="5143501"/>
          </a:xfrm>
          <a:prstGeom prst="rect">
            <a:avLst/>
          </a:prstGeom>
          <a:ln w="12700">
            <a:miter lim="400000"/>
          </a:ln>
        </p:spPr>
      </p:pic>
      <p:grpSp>
        <p:nvGrpSpPr>
          <p:cNvPr id="568" name="Group"/>
          <p:cNvGrpSpPr/>
          <p:nvPr/>
        </p:nvGrpSpPr>
        <p:grpSpPr>
          <a:xfrm>
            <a:off x="88161" y="3089000"/>
            <a:ext cx="1456736" cy="1137994"/>
            <a:chOff x="0" y="0"/>
            <a:chExt cx="1456734" cy="1137992"/>
          </a:xfrm>
        </p:grpSpPr>
        <p:sp>
          <p:nvSpPr>
            <p:cNvPr id="557"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558"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561" name="Group"/>
            <p:cNvGrpSpPr/>
            <p:nvPr/>
          </p:nvGrpSpPr>
          <p:grpSpPr>
            <a:xfrm>
              <a:off x="98270" y="517072"/>
              <a:ext cx="662039" cy="149764"/>
              <a:chOff x="0" y="0"/>
              <a:chExt cx="662038" cy="149762"/>
            </a:xfrm>
          </p:grpSpPr>
          <p:sp>
            <p:nvSpPr>
              <p:cNvPr id="559"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60"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564" name="Group"/>
            <p:cNvGrpSpPr/>
            <p:nvPr/>
          </p:nvGrpSpPr>
          <p:grpSpPr>
            <a:xfrm>
              <a:off x="98270" y="778418"/>
              <a:ext cx="620336" cy="162258"/>
              <a:chOff x="0" y="0"/>
              <a:chExt cx="620335" cy="162257"/>
            </a:xfrm>
          </p:grpSpPr>
          <p:sp>
            <p:nvSpPr>
              <p:cNvPr id="562"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563"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567" name="Group"/>
            <p:cNvGrpSpPr/>
            <p:nvPr/>
          </p:nvGrpSpPr>
          <p:grpSpPr>
            <a:xfrm>
              <a:off x="98270" y="227254"/>
              <a:ext cx="980569" cy="163196"/>
              <a:chOff x="50800" y="24178"/>
              <a:chExt cx="980568" cy="163195"/>
            </a:xfrm>
          </p:grpSpPr>
          <p:sp>
            <p:nvSpPr>
              <p:cNvPr id="565"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566"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569"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570"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571"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In Rajasthan, the map was more complicated. Finding the lever took longer. The Rajasthan map has four loops. When the community found the right lever, all four began to shift. Not all at once, and not without effort. But the direction changed.</a:t>
            </a:r>
          </a:p>
        </p:txBody>
      </p:sp>
      <p:pic>
        <p:nvPicPr>
          <p:cNvPr id="572"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
        <p:nvSpPr>
          <p:cNvPr id="573" name="Shape 1"/>
          <p:cNvSpPr/>
          <p:nvPr/>
        </p:nvSpPr>
        <p:spPr>
          <a:xfrm>
            <a:off x="9499600" y="2798388"/>
            <a:ext cx="2651761" cy="1256638"/>
          </a:xfrm>
          <a:prstGeom prst="rect">
            <a:avLst/>
          </a:prstGeom>
          <a:solidFill>
            <a:srgbClr val="FFFFFF"/>
          </a:solidFill>
          <a:ln w="12700">
            <a:solidFill>
              <a:srgbClr val="E0E0E0"/>
            </a:solidFill>
          </a:ln>
        </p:spPr>
        <p:txBody>
          <a:bodyPr lIns="45719" rIns="45719"/>
          <a:lstStyle/>
          <a:p>
            <a:pPr/>
          </a:p>
        </p:txBody>
      </p:sp>
      <p:sp>
        <p:nvSpPr>
          <p:cNvPr id="574" name="Text 3"/>
          <p:cNvSpPr txBox="1"/>
          <p:nvPr/>
        </p:nvSpPr>
        <p:spPr>
          <a:xfrm>
            <a:off x="9728200" y="2971440"/>
            <a:ext cx="219456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i="1" sz="1400">
                <a:solidFill>
                  <a:srgbClr val="1A1A1A"/>
                </a:solidFill>
                <a:latin typeface="Georgia"/>
                <a:ea typeface="Georgia"/>
                <a:cs typeface="Georgia"/>
                <a:sym typeface="Georgia"/>
              </a:defRPr>
            </a:lvl1pPr>
          </a:lstStyle>
          <a:p>
            <a:pPr/>
            <a:r>
              <a:t>The original cause couldn't be reversed. The forests were gone. That door was closed.</a:t>
            </a:r>
          </a:p>
        </p:txBody>
      </p:sp>
      <p:grpSp>
        <p:nvGrpSpPr>
          <p:cNvPr id="577" name="Text 2"/>
          <p:cNvGrpSpPr/>
          <p:nvPr/>
        </p:nvGrpSpPr>
        <p:grpSpPr>
          <a:xfrm>
            <a:off x="1792568" y="727988"/>
            <a:ext cx="2150376" cy="878682"/>
            <a:chOff x="0" y="0"/>
            <a:chExt cx="2150375" cy="878681"/>
          </a:xfrm>
        </p:grpSpPr>
        <p:sp>
          <p:nvSpPr>
            <p:cNvPr id="575" name="Oval"/>
            <p:cNvSpPr/>
            <p:nvPr/>
          </p:nvSpPr>
          <p:spPr>
            <a:xfrm>
              <a:off x="0" y="0"/>
              <a:ext cx="2150376" cy="87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76" name="Less vegetation. More soil erosion and sediment flowing into ponds with rainfall runoff"/>
            <p:cNvSpPr txBox="1"/>
            <p:nvPr/>
          </p:nvSpPr>
          <p:spPr>
            <a:xfrm>
              <a:off x="184553" y="226220"/>
              <a:ext cx="1673830" cy="4466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580" name="Text 3"/>
          <p:cNvGrpSpPr/>
          <p:nvPr/>
        </p:nvGrpSpPr>
        <p:grpSpPr>
          <a:xfrm>
            <a:off x="4402860" y="869077"/>
            <a:ext cx="1783081" cy="731521"/>
            <a:chOff x="0" y="0"/>
            <a:chExt cx="1783080" cy="731520"/>
          </a:xfrm>
        </p:grpSpPr>
        <p:sp>
          <p:nvSpPr>
            <p:cNvPr id="578"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79"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583" name="Text 5"/>
          <p:cNvGrpSpPr/>
          <p:nvPr/>
        </p:nvGrpSpPr>
        <p:grpSpPr>
          <a:xfrm>
            <a:off x="6864411" y="869077"/>
            <a:ext cx="1645922" cy="731521"/>
            <a:chOff x="0" y="0"/>
            <a:chExt cx="1645920" cy="731520"/>
          </a:xfrm>
        </p:grpSpPr>
        <p:sp>
          <p:nvSpPr>
            <p:cNvPr id="581"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82"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586" name="Text 6"/>
          <p:cNvGrpSpPr/>
          <p:nvPr/>
        </p:nvGrpSpPr>
        <p:grpSpPr>
          <a:xfrm>
            <a:off x="1689740" y="1926355"/>
            <a:ext cx="1919793" cy="933760"/>
            <a:chOff x="0" y="0"/>
            <a:chExt cx="1919792" cy="933759"/>
          </a:xfrm>
        </p:grpSpPr>
        <p:sp>
          <p:nvSpPr>
            <p:cNvPr id="584"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85"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grpSp>
        <p:nvGrpSpPr>
          <p:cNvPr id="589" name="Text 7"/>
          <p:cNvGrpSpPr/>
          <p:nvPr/>
        </p:nvGrpSpPr>
        <p:grpSpPr>
          <a:xfrm>
            <a:off x="4402860" y="1942860"/>
            <a:ext cx="1783081" cy="687074"/>
            <a:chOff x="0" y="0"/>
            <a:chExt cx="1783080" cy="687072"/>
          </a:xfrm>
        </p:grpSpPr>
        <p:sp>
          <p:nvSpPr>
            <p:cNvPr id="587"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88"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592" name="Text 8"/>
          <p:cNvGrpSpPr/>
          <p:nvPr/>
        </p:nvGrpSpPr>
        <p:grpSpPr>
          <a:xfrm>
            <a:off x="6864412" y="1877427"/>
            <a:ext cx="1828801" cy="817940"/>
            <a:chOff x="0" y="0"/>
            <a:chExt cx="1828800" cy="817939"/>
          </a:xfrm>
        </p:grpSpPr>
        <p:sp>
          <p:nvSpPr>
            <p:cNvPr id="590"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91"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595" name="Text 9"/>
          <p:cNvGrpSpPr/>
          <p:nvPr/>
        </p:nvGrpSpPr>
        <p:grpSpPr>
          <a:xfrm>
            <a:off x="1761489" y="3273402"/>
            <a:ext cx="1962901" cy="841796"/>
            <a:chOff x="0" y="0"/>
            <a:chExt cx="1962899" cy="841795"/>
          </a:xfrm>
        </p:grpSpPr>
        <p:sp>
          <p:nvSpPr>
            <p:cNvPr id="593"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594"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598" name="Text 10"/>
          <p:cNvGrpSpPr/>
          <p:nvPr/>
        </p:nvGrpSpPr>
        <p:grpSpPr>
          <a:xfrm>
            <a:off x="4402860" y="3314965"/>
            <a:ext cx="1783080" cy="686064"/>
            <a:chOff x="0" y="0"/>
            <a:chExt cx="1783078" cy="686062"/>
          </a:xfrm>
        </p:grpSpPr>
        <p:sp>
          <p:nvSpPr>
            <p:cNvPr id="596"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597"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pic>
        <p:nvPicPr>
          <p:cNvPr id="599" name="neg-lever.pngGoogle Shape;42;p3" descr="neg-lever.pngGoogle Shape;42;p3"/>
          <p:cNvPicPr>
            <a:picLocks noChangeAspect="1"/>
          </p:cNvPicPr>
          <p:nvPr/>
        </p:nvPicPr>
        <p:blipFill>
          <a:blip r:embed="rId4">
            <a:extLst/>
          </a:blip>
          <a:stretch>
            <a:fillRect/>
          </a:stretch>
        </p:blipFill>
        <p:spPr>
          <a:xfrm>
            <a:off x="245717" y="1360358"/>
            <a:ext cx="1203949" cy="1026894"/>
          </a:xfrm>
          <a:prstGeom prst="rect">
            <a:avLst/>
          </a:prstGeom>
          <a:ln w="12700">
            <a:miter lim="400000"/>
          </a:ln>
        </p:spPr>
      </p:pic>
      <p:grpSp>
        <p:nvGrpSpPr>
          <p:cNvPr id="602" name="Text 11"/>
          <p:cNvGrpSpPr/>
          <p:nvPr/>
        </p:nvGrpSpPr>
        <p:grpSpPr>
          <a:xfrm>
            <a:off x="6864412" y="3307870"/>
            <a:ext cx="1828801" cy="700254"/>
            <a:chOff x="0" y="0"/>
            <a:chExt cx="1828800" cy="700253"/>
          </a:xfrm>
        </p:grpSpPr>
        <p:sp>
          <p:nvSpPr>
            <p:cNvPr id="600"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01"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sp>
        <p:nvSpPr>
          <p:cNvPr id="603" name="Google Shape;43;p3"/>
          <p:cNvSpPr txBox="1"/>
          <p:nvPr/>
        </p:nvSpPr>
        <p:spPr>
          <a:xfrm>
            <a:off x="183552" y="1662916"/>
            <a:ext cx="1328450" cy="421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p>
            <a:pPr algn="ctr">
              <a:defRPr b="1" sz="1100">
                <a:solidFill>
                  <a:srgbClr val="FFFFFF"/>
                </a:solidFill>
                <a:latin typeface="+mn-lt"/>
                <a:ea typeface="+mn-ea"/>
                <a:cs typeface="+mn-cs"/>
                <a:sym typeface="Helvetica"/>
              </a:defRPr>
            </a:pPr>
            <a:r>
              <a:t>Logging</a:t>
            </a:r>
          </a:p>
          <a:p>
            <a:pPr algn="ctr">
              <a:defRPr b="1" sz="1100">
                <a:solidFill>
                  <a:srgbClr val="FFFFFF"/>
                </a:solidFill>
                <a:latin typeface="+mn-lt"/>
                <a:ea typeface="+mn-ea"/>
                <a:cs typeface="+mn-cs"/>
                <a:sym typeface="Helvetica"/>
              </a:defRPr>
            </a:pPr>
            <a:r>
              <a:t> the forest</a:t>
            </a:r>
          </a:p>
        </p:txBody>
      </p:sp>
      <p:sp>
        <p:nvSpPr>
          <p:cNvPr id="604" name="Rectangle"/>
          <p:cNvSpPr/>
          <p:nvPr/>
        </p:nvSpPr>
        <p:spPr>
          <a:xfrm>
            <a:off x="-107218" y="281193"/>
            <a:ext cx="9459820" cy="4010409"/>
          </a:xfrm>
          <a:prstGeom prst="rect">
            <a:avLst/>
          </a:prstGeom>
          <a:solidFill>
            <a:srgbClr val="FFFAF7">
              <a:alpha val="77196"/>
            </a:srgbClr>
          </a:solidFill>
          <a:ln w="12700">
            <a:miter lim="400000"/>
          </a:ln>
        </p:spPr>
        <p:txBody>
          <a:bodyPr lIns="45719" rIns="45719" anchor="ctr"/>
          <a:lstStyle/>
          <a:p>
            <a:pPr/>
          </a:p>
        </p:txBody>
      </p:sp>
      <p:grpSp>
        <p:nvGrpSpPr>
          <p:cNvPr id="607" name="Text 4"/>
          <p:cNvGrpSpPr/>
          <p:nvPr/>
        </p:nvGrpSpPr>
        <p:grpSpPr>
          <a:xfrm>
            <a:off x="6087172" y="297053"/>
            <a:ext cx="1188721" cy="412528"/>
            <a:chOff x="0" y="0"/>
            <a:chExt cx="1188719" cy="412526"/>
          </a:xfrm>
        </p:grpSpPr>
        <p:sp>
          <p:nvSpPr>
            <p:cNvPr id="605"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06"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pic>
        <p:nvPicPr>
          <p:cNvPr id="608" name="greyArrow.png" descr="greyArrow.png"/>
          <p:cNvPicPr>
            <a:picLocks noChangeAspect="1"/>
          </p:cNvPicPr>
          <p:nvPr/>
        </p:nvPicPr>
        <p:blipFill>
          <a:blip r:embed="rId6">
            <a:extLst/>
          </a:blip>
          <a:stretch>
            <a:fillRect/>
          </a:stretch>
        </p:blipFill>
        <p:spPr>
          <a:xfrm>
            <a:off x="6645858" y="769366"/>
            <a:ext cx="475933" cy="726880"/>
          </a:xfrm>
          <a:prstGeom prst="rect">
            <a:avLst/>
          </a:prstGeom>
          <a:ln w="12700">
            <a:miter lim="400000"/>
          </a:ln>
        </p:spPr>
      </p:pic>
      <p:grpSp>
        <p:nvGrpSpPr>
          <p:cNvPr id="611" name="Group"/>
          <p:cNvGrpSpPr/>
          <p:nvPr/>
        </p:nvGrpSpPr>
        <p:grpSpPr>
          <a:xfrm>
            <a:off x="4615238" y="1287929"/>
            <a:ext cx="3065450" cy="1448688"/>
            <a:chOff x="0" y="0"/>
            <a:chExt cx="3065448" cy="1448686"/>
          </a:xfrm>
        </p:grpSpPr>
        <p:sp>
          <p:nvSpPr>
            <p:cNvPr id="609" name="Shape 1"/>
            <p:cNvSpPr/>
            <p:nvPr/>
          </p:nvSpPr>
          <p:spPr>
            <a:xfrm>
              <a:off x="0" y="0"/>
              <a:ext cx="3065449" cy="1448687"/>
            </a:xfrm>
            <a:prstGeom prst="rect">
              <a:avLst/>
            </a:prstGeom>
            <a:solidFill>
              <a:srgbClr val="475A6D"/>
            </a:solidFill>
            <a:ln w="12700" cap="flat">
              <a:noFill/>
              <a:miter lim="400000"/>
            </a:ln>
            <a:effectLst/>
          </p:spPr>
          <p:txBody>
            <a:bodyPr wrap="square" lIns="45719" tIns="45719" rIns="45719" bIns="45719" numCol="1" anchor="t">
              <a:noAutofit/>
            </a:bodyPr>
            <a:lstStyle/>
            <a:p>
              <a:pPr/>
            </a:p>
          </p:txBody>
        </p:sp>
        <p:sp>
          <p:nvSpPr>
            <p:cNvPr id="610" name="Text 3"/>
            <p:cNvSpPr txBox="1"/>
            <p:nvPr/>
          </p:nvSpPr>
          <p:spPr>
            <a:xfrm>
              <a:off x="274401" y="223848"/>
              <a:ext cx="2634252" cy="1039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a:spcBef>
                  <a:spcPts val="600"/>
                </a:spcBef>
                <a:defRPr b="1" sz="1700">
                  <a:solidFill>
                    <a:srgbClr val="FFFAF7"/>
                  </a:solidFill>
                </a:defRPr>
              </a:lvl1pPr>
            </a:lstStyle>
            <a:p>
              <a:pPr/>
              <a:r>
                <a:t>The community cannot stop drilling without making their water security even worse.</a:t>
              </a: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615" name="n92.png" descr="n92.png"/>
          <p:cNvPicPr>
            <a:picLocks noChangeAspect="1"/>
          </p:cNvPicPr>
          <p:nvPr/>
        </p:nvPicPr>
        <p:blipFill>
          <a:blip r:embed="rId3">
            <a:extLst/>
          </a:blip>
          <a:stretch>
            <a:fillRect/>
          </a:stretch>
        </p:blipFill>
        <p:spPr>
          <a:xfrm>
            <a:off x="33902" y="68977"/>
            <a:ext cx="9076196" cy="5143501"/>
          </a:xfrm>
          <a:prstGeom prst="rect">
            <a:avLst/>
          </a:prstGeom>
          <a:ln w="12700">
            <a:miter lim="400000"/>
          </a:ln>
        </p:spPr>
      </p:pic>
      <p:grpSp>
        <p:nvGrpSpPr>
          <p:cNvPr id="618" name="Text 11"/>
          <p:cNvGrpSpPr/>
          <p:nvPr/>
        </p:nvGrpSpPr>
        <p:grpSpPr>
          <a:xfrm>
            <a:off x="6864412" y="3307870"/>
            <a:ext cx="1828801" cy="700254"/>
            <a:chOff x="0" y="0"/>
            <a:chExt cx="1828800" cy="700253"/>
          </a:xfrm>
        </p:grpSpPr>
        <p:sp>
          <p:nvSpPr>
            <p:cNvPr id="616" name="Rectangle"/>
            <p:cNvSpPr/>
            <p:nvPr/>
          </p:nvSpPr>
          <p:spPr>
            <a:xfrm>
              <a:off x="0" y="0"/>
              <a:ext cx="1828800" cy="70025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17" name="More men migrate to cities for work to send money home"/>
            <p:cNvSpPr/>
            <p:nvPr/>
          </p:nvSpPr>
          <p:spPr>
            <a:xfrm>
              <a:off x="6350" y="350126"/>
              <a:ext cx="18161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men migrate to cities for work to send money home</a:t>
              </a:r>
            </a:p>
          </p:txBody>
        </p:sp>
      </p:grpSp>
      <p:grpSp>
        <p:nvGrpSpPr>
          <p:cNvPr id="630" name="Group"/>
          <p:cNvGrpSpPr/>
          <p:nvPr/>
        </p:nvGrpSpPr>
        <p:grpSpPr>
          <a:xfrm>
            <a:off x="88161" y="2834752"/>
            <a:ext cx="1456736" cy="1137994"/>
            <a:chOff x="0" y="0"/>
            <a:chExt cx="1456734" cy="1137992"/>
          </a:xfrm>
        </p:grpSpPr>
        <p:sp>
          <p:nvSpPr>
            <p:cNvPr id="619" name="Google Shape;18;p3"/>
            <p:cNvSpPr/>
            <p:nvPr/>
          </p:nvSpPr>
          <p:spPr>
            <a:xfrm>
              <a:off x="0" y="0"/>
              <a:ext cx="1179195" cy="1137993"/>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620" name="Google Shape;19;p3"/>
            <p:cNvSpPr txBox="1"/>
            <p:nvPr/>
          </p:nvSpPr>
          <p:spPr>
            <a:xfrm>
              <a:off x="80335" y="59871"/>
              <a:ext cx="1376400"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grpSp>
          <p:nvGrpSpPr>
            <p:cNvPr id="623" name="Group"/>
            <p:cNvGrpSpPr/>
            <p:nvPr/>
          </p:nvGrpSpPr>
          <p:grpSpPr>
            <a:xfrm>
              <a:off x="98270" y="517072"/>
              <a:ext cx="662039" cy="149764"/>
              <a:chOff x="0" y="0"/>
              <a:chExt cx="662038" cy="149762"/>
            </a:xfrm>
          </p:grpSpPr>
          <p:sp>
            <p:nvSpPr>
              <p:cNvPr id="621" name="Google Shape;30;p3"/>
              <p:cNvSpPr/>
              <p:nvPr/>
            </p:nvSpPr>
            <p:spPr>
              <a:xfrm>
                <a:off x="0" y="0"/>
                <a:ext cx="185871" cy="146845"/>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622" name="Google Shape;25;p3"/>
              <p:cNvSpPr txBox="1"/>
              <p:nvPr/>
            </p:nvSpPr>
            <p:spPr>
              <a:xfrm>
                <a:off x="246765" y="43551"/>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grpSp>
        <p:grpSp>
          <p:nvGrpSpPr>
            <p:cNvPr id="626" name="Group"/>
            <p:cNvGrpSpPr/>
            <p:nvPr/>
          </p:nvGrpSpPr>
          <p:grpSpPr>
            <a:xfrm>
              <a:off x="98270" y="778418"/>
              <a:ext cx="620336" cy="162258"/>
              <a:chOff x="0" y="0"/>
              <a:chExt cx="620335" cy="162257"/>
            </a:xfrm>
          </p:grpSpPr>
          <p:sp>
            <p:nvSpPr>
              <p:cNvPr id="624" name="Google Shape;36;p3"/>
              <p:cNvSpPr/>
              <p:nvPr/>
            </p:nvSpPr>
            <p:spPr>
              <a:xfrm>
                <a:off x="0" y="0"/>
                <a:ext cx="188526" cy="161817"/>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625" name="Google Shape;25;p3"/>
              <p:cNvSpPr txBox="1"/>
              <p:nvPr/>
            </p:nvSpPr>
            <p:spPr>
              <a:xfrm>
                <a:off x="249118" y="56045"/>
                <a:ext cx="371218"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grpSp>
        <p:grpSp>
          <p:nvGrpSpPr>
            <p:cNvPr id="629" name="Group"/>
            <p:cNvGrpSpPr/>
            <p:nvPr/>
          </p:nvGrpSpPr>
          <p:grpSpPr>
            <a:xfrm>
              <a:off x="98270" y="227254"/>
              <a:ext cx="980569" cy="163196"/>
              <a:chOff x="50800" y="24178"/>
              <a:chExt cx="980568" cy="163195"/>
            </a:xfrm>
          </p:grpSpPr>
          <p:sp>
            <p:nvSpPr>
              <p:cNvPr id="627" name="Google Shape;23;p3"/>
              <p:cNvSpPr txBox="1"/>
              <p:nvPr/>
            </p:nvSpPr>
            <p:spPr>
              <a:xfrm>
                <a:off x="262603" y="81162"/>
                <a:ext cx="768766" cy="1062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Negative Lever</a:t>
                </a:r>
              </a:p>
            </p:txBody>
          </p:sp>
          <p:pic>
            <p:nvPicPr>
              <p:cNvPr id="628" name="neg-lever.pngGoogle Shape;42;p3" descr="neg-lever.pngGoogle Shape;42;p3"/>
              <p:cNvPicPr>
                <a:picLocks noChangeAspect="1"/>
              </p:cNvPicPr>
              <p:nvPr/>
            </p:nvPicPr>
            <p:blipFill>
              <a:blip r:embed="rId4">
                <a:extLst/>
              </a:blip>
              <a:srcRect l="0" t="0" r="0" b="0"/>
              <a:stretch>
                <a:fillRect/>
              </a:stretch>
            </p:blipFill>
            <p:spPr>
              <a:xfrm>
                <a:off x="50800" y="24178"/>
                <a:ext cx="190603" cy="162574"/>
              </a:xfrm>
              <a:prstGeom prst="rect">
                <a:avLst/>
              </a:prstGeom>
              <a:ln w="12700" cap="flat">
                <a:noFill/>
                <a:miter lim="400000"/>
              </a:ln>
              <a:effectLst/>
            </p:spPr>
          </p:pic>
        </p:grpSp>
      </p:grpSp>
      <p:sp>
        <p:nvSpPr>
          <p:cNvPr id="631"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632"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633"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In Rajasthan, the map was more complicated. Finding the lever took longer. The Rajasthan map has four loops. When the community found the right lever, all four began to shift. Not all at once, and not without effort. But the direction changed.</a:t>
            </a:r>
          </a:p>
        </p:txBody>
      </p:sp>
      <p:pic>
        <p:nvPicPr>
          <p:cNvPr id="634"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sp>
        <p:nvSpPr>
          <p:cNvPr id="635" name="Shape 1"/>
          <p:cNvSpPr/>
          <p:nvPr/>
        </p:nvSpPr>
        <p:spPr>
          <a:xfrm>
            <a:off x="9499600" y="2798388"/>
            <a:ext cx="2651761" cy="1256638"/>
          </a:xfrm>
          <a:prstGeom prst="rect">
            <a:avLst/>
          </a:prstGeom>
          <a:solidFill>
            <a:srgbClr val="FFFFFF"/>
          </a:solidFill>
          <a:ln w="12700">
            <a:solidFill>
              <a:srgbClr val="E0E0E0"/>
            </a:solidFill>
          </a:ln>
        </p:spPr>
        <p:txBody>
          <a:bodyPr lIns="45719" rIns="45719"/>
          <a:lstStyle/>
          <a:p>
            <a:pPr/>
          </a:p>
        </p:txBody>
      </p:sp>
      <p:sp>
        <p:nvSpPr>
          <p:cNvPr id="636" name="Text 3"/>
          <p:cNvSpPr txBox="1"/>
          <p:nvPr/>
        </p:nvSpPr>
        <p:spPr>
          <a:xfrm>
            <a:off x="9728200" y="2971440"/>
            <a:ext cx="219456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600"/>
              </a:spcBef>
              <a:defRPr i="1" sz="1400">
                <a:solidFill>
                  <a:srgbClr val="1A1A1A"/>
                </a:solidFill>
                <a:latin typeface="Georgia"/>
                <a:ea typeface="Georgia"/>
                <a:cs typeface="Georgia"/>
                <a:sym typeface="Georgia"/>
              </a:defRPr>
            </a:lvl1pPr>
          </a:lstStyle>
          <a:p>
            <a:pPr/>
            <a:r>
              <a:t>The original cause couldn't be reversed. The forests were gone. That door was closed.</a:t>
            </a:r>
          </a:p>
        </p:txBody>
      </p:sp>
      <p:grpSp>
        <p:nvGrpSpPr>
          <p:cNvPr id="639" name="Text 2"/>
          <p:cNvGrpSpPr/>
          <p:nvPr/>
        </p:nvGrpSpPr>
        <p:grpSpPr>
          <a:xfrm>
            <a:off x="1792568" y="727988"/>
            <a:ext cx="2150376" cy="878682"/>
            <a:chOff x="0" y="0"/>
            <a:chExt cx="2150375" cy="878681"/>
          </a:xfrm>
        </p:grpSpPr>
        <p:sp>
          <p:nvSpPr>
            <p:cNvPr id="637" name="Oval"/>
            <p:cNvSpPr/>
            <p:nvPr/>
          </p:nvSpPr>
          <p:spPr>
            <a:xfrm>
              <a:off x="0" y="0"/>
              <a:ext cx="2150376" cy="87868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38" name="Less vegetation. More soil erosion and sediment flowing into ponds with rainfall runoff"/>
            <p:cNvSpPr txBox="1"/>
            <p:nvPr/>
          </p:nvSpPr>
          <p:spPr>
            <a:xfrm>
              <a:off x="184553" y="226220"/>
              <a:ext cx="1673830" cy="4466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Less vegetation. More soil erosion and sediment flowing into ponds with rainfall runoff</a:t>
              </a:r>
            </a:p>
          </p:txBody>
        </p:sp>
      </p:grpSp>
      <p:grpSp>
        <p:nvGrpSpPr>
          <p:cNvPr id="642" name="Text 3"/>
          <p:cNvGrpSpPr/>
          <p:nvPr/>
        </p:nvGrpSpPr>
        <p:grpSpPr>
          <a:xfrm>
            <a:off x="4402860" y="869077"/>
            <a:ext cx="1783081" cy="731521"/>
            <a:chOff x="0" y="0"/>
            <a:chExt cx="1783080" cy="731520"/>
          </a:xfrm>
        </p:grpSpPr>
        <p:sp>
          <p:nvSpPr>
            <p:cNvPr id="640" name="Oval"/>
            <p:cNvSpPr/>
            <p:nvPr/>
          </p:nvSpPr>
          <p:spPr>
            <a:xfrm>
              <a:off x="-1" y="-1"/>
              <a:ext cx="178308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41" name="Less water in the aquifer"/>
            <p:cNvSpPr txBox="1"/>
            <p:nvPr/>
          </p:nvSpPr>
          <p:spPr>
            <a:xfrm>
              <a:off x="267475" y="215568"/>
              <a:ext cx="1248129"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the aquifer</a:t>
              </a:r>
            </a:p>
          </p:txBody>
        </p:sp>
      </p:grpSp>
      <p:grpSp>
        <p:nvGrpSpPr>
          <p:cNvPr id="645" name="Text 4"/>
          <p:cNvGrpSpPr/>
          <p:nvPr/>
        </p:nvGrpSpPr>
        <p:grpSpPr>
          <a:xfrm>
            <a:off x="6087172" y="297053"/>
            <a:ext cx="1188721" cy="412528"/>
            <a:chOff x="0" y="0"/>
            <a:chExt cx="1188719" cy="412526"/>
          </a:xfrm>
        </p:grpSpPr>
        <p:sp>
          <p:nvSpPr>
            <p:cNvPr id="643" name="Rectangle"/>
            <p:cNvSpPr/>
            <p:nvPr/>
          </p:nvSpPr>
          <p:spPr>
            <a:xfrm>
              <a:off x="0" y="0"/>
              <a:ext cx="1188720" cy="412527"/>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44" name="Drill Deeper wells"/>
            <p:cNvSpPr/>
            <p:nvPr/>
          </p:nvSpPr>
          <p:spPr>
            <a:xfrm>
              <a:off x="6350" y="206263"/>
              <a:ext cx="117602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Drill Deeper wells</a:t>
              </a:r>
            </a:p>
          </p:txBody>
        </p:sp>
      </p:grpSp>
      <p:grpSp>
        <p:nvGrpSpPr>
          <p:cNvPr id="648" name="Text 5"/>
          <p:cNvGrpSpPr/>
          <p:nvPr/>
        </p:nvGrpSpPr>
        <p:grpSpPr>
          <a:xfrm>
            <a:off x="6864411" y="869077"/>
            <a:ext cx="1645922" cy="731521"/>
            <a:chOff x="0" y="0"/>
            <a:chExt cx="1645920" cy="731520"/>
          </a:xfrm>
        </p:grpSpPr>
        <p:sp>
          <p:nvSpPr>
            <p:cNvPr id="646" name="Oval"/>
            <p:cNvSpPr/>
            <p:nvPr/>
          </p:nvSpPr>
          <p:spPr>
            <a:xfrm>
              <a:off x="-1" y="-1"/>
              <a:ext cx="1645922" cy="73152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47" name="Less water in wells"/>
            <p:cNvSpPr txBox="1"/>
            <p:nvPr/>
          </p:nvSpPr>
          <p:spPr>
            <a:xfrm>
              <a:off x="247388" y="298118"/>
              <a:ext cx="1151144" cy="135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water in wells</a:t>
              </a:r>
            </a:p>
          </p:txBody>
        </p:sp>
      </p:grpSp>
      <p:grpSp>
        <p:nvGrpSpPr>
          <p:cNvPr id="651" name="Text 7"/>
          <p:cNvGrpSpPr/>
          <p:nvPr/>
        </p:nvGrpSpPr>
        <p:grpSpPr>
          <a:xfrm>
            <a:off x="4402860" y="1942860"/>
            <a:ext cx="1783081" cy="687074"/>
            <a:chOff x="0" y="0"/>
            <a:chExt cx="1783080" cy="687072"/>
          </a:xfrm>
        </p:grpSpPr>
        <p:sp>
          <p:nvSpPr>
            <p:cNvPr id="649" name="Oval"/>
            <p:cNvSpPr/>
            <p:nvPr/>
          </p:nvSpPr>
          <p:spPr>
            <a:xfrm>
              <a:off x="0" y="0"/>
              <a:ext cx="1783081" cy="687073"/>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50" name="Less pond capacity. Less water transferred to aquifer"/>
            <p:cNvSpPr/>
            <p:nvPr/>
          </p:nvSpPr>
          <p:spPr>
            <a:xfrm>
              <a:off x="47355" y="343536"/>
              <a:ext cx="168836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pond capacity. Less water transferred to aquifer</a:t>
              </a:r>
            </a:p>
          </p:txBody>
        </p:sp>
      </p:grpSp>
      <p:grpSp>
        <p:nvGrpSpPr>
          <p:cNvPr id="654" name="Text 8"/>
          <p:cNvGrpSpPr/>
          <p:nvPr/>
        </p:nvGrpSpPr>
        <p:grpSpPr>
          <a:xfrm>
            <a:off x="6864412" y="1877427"/>
            <a:ext cx="1828801" cy="817940"/>
            <a:chOff x="0" y="0"/>
            <a:chExt cx="1828800" cy="817939"/>
          </a:xfrm>
        </p:grpSpPr>
        <p:sp>
          <p:nvSpPr>
            <p:cNvPr id="652" name="Oval"/>
            <p:cNvSpPr/>
            <p:nvPr/>
          </p:nvSpPr>
          <p:spPr>
            <a:xfrm>
              <a:off x="0" y="0"/>
              <a:ext cx="1828800" cy="81794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53" name="Less irrigation water. Less agricultural work and food production in village"/>
            <p:cNvSpPr/>
            <p:nvPr/>
          </p:nvSpPr>
          <p:spPr>
            <a:xfrm>
              <a:off x="118817" y="408969"/>
              <a:ext cx="1591166"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irrigation water. Less agricultural work and food production in village</a:t>
              </a:r>
            </a:p>
          </p:txBody>
        </p:sp>
      </p:grpSp>
      <p:grpSp>
        <p:nvGrpSpPr>
          <p:cNvPr id="657" name="Text 9"/>
          <p:cNvGrpSpPr/>
          <p:nvPr/>
        </p:nvGrpSpPr>
        <p:grpSpPr>
          <a:xfrm>
            <a:off x="1761489" y="3273402"/>
            <a:ext cx="1962901" cy="841796"/>
            <a:chOff x="0" y="0"/>
            <a:chExt cx="1962899" cy="841795"/>
          </a:xfrm>
        </p:grpSpPr>
        <p:sp>
          <p:nvSpPr>
            <p:cNvPr id="655" name="Oval"/>
            <p:cNvSpPr/>
            <p:nvPr/>
          </p:nvSpPr>
          <p:spPr>
            <a:xfrm>
              <a:off x="0" y="0"/>
              <a:ext cx="1962900" cy="841796"/>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56" name="Less motivation, social organization and technology for ponds"/>
            <p:cNvSpPr/>
            <p:nvPr/>
          </p:nvSpPr>
          <p:spPr>
            <a:xfrm>
              <a:off x="203776" y="417577"/>
              <a:ext cx="1491647"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motivation, social organization and technology for ponds</a:t>
              </a:r>
            </a:p>
          </p:txBody>
        </p:sp>
      </p:grpSp>
      <p:grpSp>
        <p:nvGrpSpPr>
          <p:cNvPr id="660" name="Text 10"/>
          <p:cNvGrpSpPr/>
          <p:nvPr/>
        </p:nvGrpSpPr>
        <p:grpSpPr>
          <a:xfrm>
            <a:off x="4402860" y="3314965"/>
            <a:ext cx="1783080" cy="686064"/>
            <a:chOff x="0" y="0"/>
            <a:chExt cx="1783078" cy="686062"/>
          </a:xfrm>
        </p:grpSpPr>
        <p:sp>
          <p:nvSpPr>
            <p:cNvPr id="658" name="Rectangle"/>
            <p:cNvSpPr/>
            <p:nvPr/>
          </p:nvSpPr>
          <p:spPr>
            <a:xfrm>
              <a:off x="0" y="0"/>
              <a:ext cx="1783079" cy="68606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59" name="Less village labor committed to maintaining ponds"/>
            <p:cNvSpPr/>
            <p:nvPr/>
          </p:nvSpPr>
          <p:spPr>
            <a:xfrm>
              <a:off x="6350" y="343031"/>
              <a:ext cx="1770379"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Less village labor committed to maintaining ponds</a:t>
              </a:r>
            </a:p>
          </p:txBody>
        </p:sp>
      </p:grpSp>
      <p:pic>
        <p:nvPicPr>
          <p:cNvPr id="661" name="neg-lever.pngGoogle Shape;42;p3" descr="neg-lever.pngGoogle Shape;42;p3"/>
          <p:cNvPicPr>
            <a:picLocks noChangeAspect="1"/>
          </p:cNvPicPr>
          <p:nvPr/>
        </p:nvPicPr>
        <p:blipFill>
          <a:blip r:embed="rId4">
            <a:extLst/>
          </a:blip>
          <a:stretch>
            <a:fillRect/>
          </a:stretch>
        </p:blipFill>
        <p:spPr>
          <a:xfrm>
            <a:off x="245717" y="1360358"/>
            <a:ext cx="1203949" cy="1026894"/>
          </a:xfrm>
          <a:prstGeom prst="rect">
            <a:avLst/>
          </a:prstGeom>
          <a:ln w="12700">
            <a:miter lim="400000"/>
          </a:ln>
        </p:spPr>
      </p:pic>
      <p:sp>
        <p:nvSpPr>
          <p:cNvPr id="662" name="Google Shape;43;p3"/>
          <p:cNvSpPr txBox="1"/>
          <p:nvPr/>
        </p:nvSpPr>
        <p:spPr>
          <a:xfrm>
            <a:off x="183552" y="1662916"/>
            <a:ext cx="1328450" cy="421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p>
            <a:pPr algn="ctr">
              <a:defRPr b="1" sz="1100">
                <a:solidFill>
                  <a:srgbClr val="FFFFFF"/>
                </a:solidFill>
                <a:latin typeface="+mn-lt"/>
                <a:ea typeface="+mn-ea"/>
                <a:cs typeface="+mn-cs"/>
                <a:sym typeface="Helvetica"/>
              </a:defRPr>
            </a:pPr>
            <a:r>
              <a:t>Logging</a:t>
            </a:r>
          </a:p>
          <a:p>
            <a:pPr algn="ctr">
              <a:defRPr b="1" sz="1100">
                <a:solidFill>
                  <a:srgbClr val="FFFFFF"/>
                </a:solidFill>
                <a:latin typeface="+mn-lt"/>
                <a:ea typeface="+mn-ea"/>
                <a:cs typeface="+mn-cs"/>
                <a:sym typeface="Helvetica"/>
              </a:defRPr>
            </a:pPr>
            <a:r>
              <a:t> the forest</a:t>
            </a:r>
          </a:p>
        </p:txBody>
      </p:sp>
      <p:sp>
        <p:nvSpPr>
          <p:cNvPr id="663" name="Rectangle"/>
          <p:cNvSpPr/>
          <p:nvPr/>
        </p:nvSpPr>
        <p:spPr>
          <a:xfrm>
            <a:off x="80192" y="331993"/>
            <a:ext cx="9437510" cy="3908809"/>
          </a:xfrm>
          <a:prstGeom prst="rect">
            <a:avLst/>
          </a:prstGeom>
          <a:solidFill>
            <a:srgbClr val="FFFAF7">
              <a:alpha val="77196"/>
            </a:srgbClr>
          </a:solidFill>
          <a:ln w="12700">
            <a:miter lim="400000"/>
          </a:ln>
        </p:spPr>
        <p:txBody>
          <a:bodyPr lIns="45719" rIns="45719" anchor="ctr"/>
          <a:lstStyle/>
          <a:p>
            <a:pPr/>
          </a:p>
        </p:txBody>
      </p:sp>
      <p:grpSp>
        <p:nvGrpSpPr>
          <p:cNvPr id="666" name="Group"/>
          <p:cNvGrpSpPr/>
          <p:nvPr/>
        </p:nvGrpSpPr>
        <p:grpSpPr>
          <a:xfrm>
            <a:off x="4285675" y="773622"/>
            <a:ext cx="3963257" cy="2804755"/>
            <a:chOff x="0" y="0"/>
            <a:chExt cx="3963256" cy="2804753"/>
          </a:xfrm>
        </p:grpSpPr>
        <p:sp>
          <p:nvSpPr>
            <p:cNvPr id="664" name="Shape 1"/>
            <p:cNvSpPr/>
            <p:nvPr/>
          </p:nvSpPr>
          <p:spPr>
            <a:xfrm>
              <a:off x="0" y="0"/>
              <a:ext cx="3963257" cy="2804754"/>
            </a:xfrm>
            <a:prstGeom prst="rect">
              <a:avLst/>
            </a:prstGeom>
            <a:solidFill>
              <a:srgbClr val="009137"/>
            </a:solidFill>
            <a:ln w="12700" cap="flat">
              <a:solidFill>
                <a:srgbClr val="E0E0E0"/>
              </a:solidFill>
              <a:prstDash val="solid"/>
              <a:round/>
            </a:ln>
            <a:effectLst/>
          </p:spPr>
          <p:txBody>
            <a:bodyPr wrap="square" lIns="45719" tIns="45719" rIns="45719" bIns="45719" numCol="1" anchor="t">
              <a:noAutofit/>
            </a:bodyPr>
            <a:lstStyle/>
            <a:p>
              <a:pPr/>
            </a:p>
          </p:txBody>
        </p:sp>
        <p:sp>
          <p:nvSpPr>
            <p:cNvPr id="665" name="Text 3"/>
            <p:cNvSpPr txBox="1"/>
            <p:nvPr/>
          </p:nvSpPr>
          <p:spPr>
            <a:xfrm>
              <a:off x="354767" y="433385"/>
              <a:ext cx="3405772" cy="20129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p>
              <a:pPr>
                <a:spcBef>
                  <a:spcPts val="600"/>
                </a:spcBef>
                <a:defRPr b="1" sz="1600">
                  <a:solidFill>
                    <a:srgbClr val="FFFFFF"/>
                  </a:solidFill>
                </a:defRPr>
              </a:pPr>
              <a:r>
                <a:t>Here is the lever that worked. </a:t>
              </a:r>
              <a:br/>
              <a:r>
                <a:t>The traditional rainwater collection ponds had silted up. Maintaining them was something the community could actually do. Once that started, the water table recovered, vegetation returned, men came back, and the other cycles began to follow.</a:t>
              </a:r>
            </a:p>
          </p:txBody>
        </p:sp>
      </p:grpSp>
      <p:grpSp>
        <p:nvGrpSpPr>
          <p:cNvPr id="669" name="Text 6"/>
          <p:cNvGrpSpPr/>
          <p:nvPr/>
        </p:nvGrpSpPr>
        <p:grpSpPr>
          <a:xfrm>
            <a:off x="1689740" y="1926355"/>
            <a:ext cx="1919793" cy="933760"/>
            <a:chOff x="0" y="0"/>
            <a:chExt cx="1919792" cy="933759"/>
          </a:xfrm>
        </p:grpSpPr>
        <p:sp>
          <p:nvSpPr>
            <p:cNvPr id="667" name="Oval"/>
            <p:cNvSpPr/>
            <p:nvPr/>
          </p:nvSpPr>
          <p:spPr>
            <a:xfrm>
              <a:off x="0" y="0"/>
              <a:ext cx="1919793" cy="933760"/>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68" name="More sediment in ponds. More labor required to maintain ponds"/>
            <p:cNvSpPr/>
            <p:nvPr/>
          </p:nvSpPr>
          <p:spPr>
            <a:xfrm>
              <a:off x="193127" y="466879"/>
              <a:ext cx="1533538"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sediment in ponds. More labor required to maintain ponds</a:t>
              </a:r>
            </a:p>
          </p:txBody>
        </p:sp>
      </p:grpSp>
      <p:pic>
        <p:nvPicPr>
          <p:cNvPr id="670" name="greenyArrow.png" descr="greenyArrow.png"/>
          <p:cNvPicPr>
            <a:picLocks noChangeAspect="1"/>
          </p:cNvPicPr>
          <p:nvPr/>
        </p:nvPicPr>
        <p:blipFill>
          <a:blip r:embed="rId6">
            <a:extLst/>
          </a:blip>
          <a:stretch>
            <a:fillRect/>
          </a:stretch>
        </p:blipFill>
        <p:spPr>
          <a:xfrm rot="16640338">
            <a:off x="3898481" y="2045017"/>
            <a:ext cx="517287" cy="790038"/>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pic>
        <p:nvPicPr>
          <p:cNvPr id="674" name="r14.png" descr="r14.png"/>
          <p:cNvPicPr>
            <a:picLocks noChangeAspect="1"/>
          </p:cNvPicPr>
          <p:nvPr/>
        </p:nvPicPr>
        <p:blipFill>
          <a:blip r:embed="rId3">
            <a:extLst/>
          </a:blip>
          <a:stretch>
            <a:fillRect/>
          </a:stretch>
        </p:blipFill>
        <p:spPr>
          <a:xfrm>
            <a:off x="8502" y="-38100"/>
            <a:ext cx="9076196" cy="5143500"/>
          </a:xfrm>
          <a:prstGeom prst="rect">
            <a:avLst/>
          </a:prstGeom>
          <a:ln w="12700">
            <a:miter lim="400000"/>
          </a:ln>
        </p:spPr>
      </p:pic>
      <p:sp>
        <p:nvSpPr>
          <p:cNvPr id="675" name="Shape 7"/>
          <p:cNvSpPr/>
          <p:nvPr/>
        </p:nvSpPr>
        <p:spPr>
          <a:xfrm>
            <a:off x="-78844" y="4343400"/>
            <a:ext cx="9301688" cy="802641"/>
          </a:xfrm>
          <a:prstGeom prst="rect">
            <a:avLst/>
          </a:prstGeom>
          <a:solidFill>
            <a:srgbClr val="2D5016"/>
          </a:solidFill>
          <a:ln w="12700">
            <a:miter lim="400000"/>
          </a:ln>
        </p:spPr>
        <p:txBody>
          <a:bodyPr lIns="45719" rIns="45719"/>
          <a:lstStyle/>
          <a:p>
            <a:pPr/>
          </a:p>
        </p:txBody>
      </p:sp>
      <p:sp>
        <p:nvSpPr>
          <p:cNvPr id="676"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677" name="Text 12"/>
          <p:cNvSpPr txBox="1"/>
          <p:nvPr/>
        </p:nvSpPr>
        <p:spPr>
          <a:xfrm>
            <a:off x="274320" y="4420424"/>
            <a:ext cx="8595360" cy="64859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spAutoFit/>
          </a:bodyPr>
          <a:lstStyle>
            <a:lvl1pPr>
              <a:defRPr b="1" sz="1400">
                <a:solidFill>
                  <a:srgbClr val="FFFFFF"/>
                </a:solidFill>
              </a:defRPr>
            </a:lvl1pPr>
          </a:lstStyle>
          <a:p>
            <a:pPr/>
            <a:r>
              <a:t>The ponds were modest. The work was slow. But because the ponds sat at a place where several loops connected, maintaining them changed the conditions for everything else. This is what a lever can look like in a complex system. It often takes looking past the obvious answer.</a:t>
            </a:r>
          </a:p>
        </p:txBody>
      </p:sp>
      <p:grpSp>
        <p:nvGrpSpPr>
          <p:cNvPr id="680" name="Group"/>
          <p:cNvGrpSpPr/>
          <p:nvPr/>
        </p:nvGrpSpPr>
        <p:grpSpPr>
          <a:xfrm>
            <a:off x="158942" y="601188"/>
            <a:ext cx="2404407" cy="733012"/>
            <a:chOff x="0" y="0"/>
            <a:chExt cx="2404405" cy="733011"/>
          </a:xfrm>
        </p:grpSpPr>
        <p:sp>
          <p:nvSpPr>
            <p:cNvPr id="678" name="Rectangle"/>
            <p:cNvSpPr/>
            <p:nvPr/>
          </p:nvSpPr>
          <p:spPr>
            <a:xfrm>
              <a:off x="0" y="0"/>
              <a:ext cx="2404406" cy="733012"/>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79" name="More vegetation. Less soil erosion and sediment flowing into ponds with rainfall runoff"/>
            <p:cNvSpPr txBox="1"/>
            <p:nvPr/>
          </p:nvSpPr>
          <p:spPr>
            <a:xfrm>
              <a:off x="140331" y="133763"/>
              <a:ext cx="2123744" cy="4654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vegetation. Less soil erosion and sediment flowing into ponds with rainfall runoff</a:t>
              </a:r>
            </a:p>
          </p:txBody>
        </p:sp>
      </p:grpSp>
      <p:grpSp>
        <p:nvGrpSpPr>
          <p:cNvPr id="683" name="Group"/>
          <p:cNvGrpSpPr/>
          <p:nvPr/>
        </p:nvGrpSpPr>
        <p:grpSpPr>
          <a:xfrm>
            <a:off x="3799935" y="380654"/>
            <a:ext cx="1315527" cy="717454"/>
            <a:chOff x="0" y="0"/>
            <a:chExt cx="1315526" cy="717452"/>
          </a:xfrm>
        </p:grpSpPr>
        <p:sp>
          <p:nvSpPr>
            <p:cNvPr id="681" name="Rectangle"/>
            <p:cNvSpPr/>
            <p:nvPr/>
          </p:nvSpPr>
          <p:spPr>
            <a:xfrm>
              <a:off x="0" y="0"/>
              <a:ext cx="1315527" cy="717453"/>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82" name="More water in the aquifer"/>
            <p:cNvSpPr txBox="1"/>
            <p:nvPr/>
          </p:nvSpPr>
          <p:spPr>
            <a:xfrm>
              <a:off x="83774" y="220087"/>
              <a:ext cx="1147979" cy="2772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water in the aquifer</a:t>
              </a:r>
            </a:p>
          </p:txBody>
        </p:sp>
      </p:grpSp>
      <p:grpSp>
        <p:nvGrpSpPr>
          <p:cNvPr id="686" name="Group"/>
          <p:cNvGrpSpPr/>
          <p:nvPr/>
        </p:nvGrpSpPr>
        <p:grpSpPr>
          <a:xfrm>
            <a:off x="6094632" y="473378"/>
            <a:ext cx="1302827" cy="532006"/>
            <a:chOff x="0" y="0"/>
            <a:chExt cx="1302826" cy="532004"/>
          </a:xfrm>
        </p:grpSpPr>
        <p:sp>
          <p:nvSpPr>
            <p:cNvPr id="684" name="Oval"/>
            <p:cNvSpPr/>
            <p:nvPr/>
          </p:nvSpPr>
          <p:spPr>
            <a:xfrm>
              <a:off x="0" y="0"/>
              <a:ext cx="1302827" cy="532005"/>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85" name="More water in wells"/>
            <p:cNvSpPr txBox="1"/>
            <p:nvPr/>
          </p:nvSpPr>
          <p:spPr>
            <a:xfrm>
              <a:off x="75841" y="115810"/>
              <a:ext cx="1151143"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water in wells</a:t>
              </a:r>
            </a:p>
          </p:txBody>
        </p:sp>
      </p:grpSp>
      <p:grpSp>
        <p:nvGrpSpPr>
          <p:cNvPr id="689" name="Group"/>
          <p:cNvGrpSpPr/>
          <p:nvPr/>
        </p:nvGrpSpPr>
        <p:grpSpPr>
          <a:xfrm>
            <a:off x="188144" y="1713646"/>
            <a:ext cx="2255618" cy="814006"/>
            <a:chOff x="0" y="0"/>
            <a:chExt cx="2255616" cy="814004"/>
          </a:xfrm>
        </p:grpSpPr>
        <p:sp>
          <p:nvSpPr>
            <p:cNvPr id="687" name="Rectangle"/>
            <p:cNvSpPr/>
            <p:nvPr/>
          </p:nvSpPr>
          <p:spPr>
            <a:xfrm>
              <a:off x="0" y="0"/>
              <a:ext cx="2255617" cy="814005"/>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88" name="Less sediment in ponds. Less…"/>
            <p:cNvSpPr txBox="1"/>
            <p:nvPr/>
          </p:nvSpPr>
          <p:spPr>
            <a:xfrm>
              <a:off x="45740" y="258479"/>
              <a:ext cx="2052583" cy="3244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p>
              <a:pPr algn="ctr">
                <a:defRPr b="1" sz="1100">
                  <a:solidFill>
                    <a:srgbClr val="1A1A1A"/>
                  </a:solidFill>
                </a:defRPr>
              </a:pPr>
              <a:r>
                <a:t>Less sediment in ponds. Less </a:t>
              </a:r>
            </a:p>
            <a:p>
              <a:pPr algn="ctr">
                <a:defRPr b="1" sz="1100">
                  <a:solidFill>
                    <a:srgbClr val="1A1A1A"/>
                  </a:solidFill>
                </a:defRPr>
              </a:pPr>
              <a:r>
                <a:t>labor required to maintain ponds</a:t>
              </a:r>
            </a:p>
          </p:txBody>
        </p:sp>
      </p:grpSp>
      <p:grpSp>
        <p:nvGrpSpPr>
          <p:cNvPr id="692" name="Group"/>
          <p:cNvGrpSpPr/>
          <p:nvPr/>
        </p:nvGrpSpPr>
        <p:grpSpPr>
          <a:xfrm>
            <a:off x="3329890" y="1368121"/>
            <a:ext cx="2255618" cy="676552"/>
            <a:chOff x="0" y="0"/>
            <a:chExt cx="2255616" cy="676551"/>
          </a:xfrm>
        </p:grpSpPr>
        <p:sp>
          <p:nvSpPr>
            <p:cNvPr id="690" name="Oval"/>
            <p:cNvSpPr/>
            <p:nvPr/>
          </p:nvSpPr>
          <p:spPr>
            <a:xfrm>
              <a:off x="0" y="0"/>
              <a:ext cx="2255617" cy="67655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91" name="More pond capacity and more water transferred to aquifer"/>
            <p:cNvSpPr txBox="1"/>
            <p:nvPr/>
          </p:nvSpPr>
          <p:spPr>
            <a:xfrm>
              <a:off x="236267" y="188083"/>
              <a:ext cx="1783082"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pond capacity and more water transferred to aquifer</a:t>
              </a:r>
            </a:p>
          </p:txBody>
        </p:sp>
      </p:grpSp>
      <p:grpSp>
        <p:nvGrpSpPr>
          <p:cNvPr id="695" name="Group"/>
          <p:cNvGrpSpPr/>
          <p:nvPr/>
        </p:nvGrpSpPr>
        <p:grpSpPr>
          <a:xfrm>
            <a:off x="6566685" y="1466336"/>
            <a:ext cx="1828801" cy="905095"/>
            <a:chOff x="0" y="0"/>
            <a:chExt cx="1828800" cy="905093"/>
          </a:xfrm>
        </p:grpSpPr>
        <p:sp>
          <p:nvSpPr>
            <p:cNvPr id="693" name="Rectangle"/>
            <p:cNvSpPr/>
            <p:nvPr/>
          </p:nvSpPr>
          <p:spPr>
            <a:xfrm>
              <a:off x="0" y="0"/>
              <a:ext cx="1828800" cy="905094"/>
            </a:xfrm>
            <a:prstGeom prst="rect">
              <a:avLst/>
            </a:prstGeom>
            <a:solidFill>
              <a:srgbClr val="FFFCD7"/>
            </a:solidFill>
            <a:ln w="12700" cap="flat">
              <a:solidFill>
                <a:srgbClr val="CCC0AB"/>
              </a:solidFill>
              <a:prstDash val="solid"/>
              <a:round/>
            </a:ln>
            <a:effectLst/>
          </p:spPr>
          <p:txBody>
            <a:bodyPr wrap="square" lIns="45719" tIns="45719" rIns="45719" bIns="45719" numCol="1" anchor="ctr">
              <a:noAutofit/>
            </a:bodyPr>
            <a:lstStyle/>
            <a:p>
              <a:pPr algn="ctr">
                <a:defRPr sz="1100"/>
              </a:pPr>
            </a:p>
          </p:txBody>
        </p:sp>
        <p:sp>
          <p:nvSpPr>
            <p:cNvPr id="694" name="More irrigation water. More agricultural work and food production in village"/>
            <p:cNvSpPr txBox="1"/>
            <p:nvPr/>
          </p:nvSpPr>
          <p:spPr>
            <a:xfrm>
              <a:off x="6350" y="219804"/>
              <a:ext cx="1816100" cy="4654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Autofit/>
            </a:bodyPr>
            <a:lstStyle>
              <a:lvl1pPr algn="ctr">
                <a:defRPr b="1" sz="1100">
                  <a:solidFill>
                    <a:srgbClr val="1A1A1A"/>
                  </a:solidFill>
                </a:defRPr>
              </a:lvl1pPr>
            </a:lstStyle>
            <a:p>
              <a:pPr/>
              <a:r>
                <a:t>More irrigation water. More agricultural work and food production in village</a:t>
              </a:r>
            </a:p>
          </p:txBody>
        </p:sp>
      </p:grpSp>
      <p:grpSp>
        <p:nvGrpSpPr>
          <p:cNvPr id="698" name="Group"/>
          <p:cNvGrpSpPr/>
          <p:nvPr/>
        </p:nvGrpSpPr>
        <p:grpSpPr>
          <a:xfrm>
            <a:off x="268726" y="2835752"/>
            <a:ext cx="2708667" cy="766248"/>
            <a:chOff x="0" y="0"/>
            <a:chExt cx="2708665" cy="766246"/>
          </a:xfrm>
        </p:grpSpPr>
        <p:sp>
          <p:nvSpPr>
            <p:cNvPr id="696" name="Oval"/>
            <p:cNvSpPr/>
            <p:nvPr/>
          </p:nvSpPr>
          <p:spPr>
            <a:xfrm>
              <a:off x="0" y="0"/>
              <a:ext cx="2708666" cy="766247"/>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697" name="More motivation, social organization, and technology for the ponds"/>
            <p:cNvSpPr txBox="1"/>
            <p:nvPr/>
          </p:nvSpPr>
          <p:spPr>
            <a:xfrm>
              <a:off x="180392" y="232931"/>
              <a:ext cx="2347880"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motivation, social organization, and technology for the ponds</a:t>
              </a:r>
            </a:p>
          </p:txBody>
        </p:sp>
      </p:grpSp>
      <p:grpSp>
        <p:nvGrpSpPr>
          <p:cNvPr id="701" name="Group"/>
          <p:cNvGrpSpPr/>
          <p:nvPr/>
        </p:nvGrpSpPr>
        <p:grpSpPr>
          <a:xfrm>
            <a:off x="3211317" y="2307911"/>
            <a:ext cx="2721366" cy="623192"/>
            <a:chOff x="0" y="0"/>
            <a:chExt cx="2721365" cy="623191"/>
          </a:xfrm>
        </p:grpSpPr>
        <p:sp>
          <p:nvSpPr>
            <p:cNvPr id="699" name="Oval"/>
            <p:cNvSpPr/>
            <p:nvPr/>
          </p:nvSpPr>
          <p:spPr>
            <a:xfrm>
              <a:off x="0" y="0"/>
              <a:ext cx="2721366" cy="62319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700" name="More village labor committed to restoring and maintaining ponds"/>
            <p:cNvSpPr txBox="1"/>
            <p:nvPr/>
          </p:nvSpPr>
          <p:spPr>
            <a:xfrm>
              <a:off x="232873" y="149846"/>
              <a:ext cx="2255618" cy="300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100">
                  <a:solidFill>
                    <a:srgbClr val="1A1A1A"/>
                  </a:solidFill>
                </a:defRPr>
              </a:lvl1pPr>
            </a:lstStyle>
            <a:p>
              <a:pPr/>
              <a:r>
                <a:t>More village labor committed to restoring and maintaining ponds</a:t>
              </a:r>
            </a:p>
          </p:txBody>
        </p:sp>
      </p:grpSp>
      <p:grpSp>
        <p:nvGrpSpPr>
          <p:cNvPr id="704" name="Group"/>
          <p:cNvGrpSpPr/>
          <p:nvPr/>
        </p:nvGrpSpPr>
        <p:grpSpPr>
          <a:xfrm>
            <a:off x="6520701" y="2832384"/>
            <a:ext cx="1620521" cy="635892"/>
            <a:chOff x="0" y="0"/>
            <a:chExt cx="1620520" cy="635891"/>
          </a:xfrm>
        </p:grpSpPr>
        <p:sp>
          <p:nvSpPr>
            <p:cNvPr id="702" name="Oval"/>
            <p:cNvSpPr/>
            <p:nvPr/>
          </p:nvSpPr>
          <p:spPr>
            <a:xfrm>
              <a:off x="0" y="0"/>
              <a:ext cx="1620521" cy="635892"/>
            </a:xfrm>
            <a:prstGeom prst="ellipse">
              <a:avLst/>
            </a:prstGeom>
            <a:solidFill>
              <a:srgbClr val="DCF1E8"/>
            </a:solidFill>
            <a:ln w="12700" cap="flat">
              <a:solidFill>
                <a:srgbClr val="ADBDB6"/>
              </a:solidFill>
              <a:prstDash val="solid"/>
              <a:round/>
            </a:ln>
            <a:effectLst/>
          </p:spPr>
          <p:txBody>
            <a:bodyPr wrap="square" lIns="45719" tIns="45719" rIns="45719" bIns="45719" numCol="1" anchor="ctr">
              <a:noAutofit/>
            </a:bodyPr>
            <a:lstStyle/>
            <a:p>
              <a:pPr algn="ctr">
                <a:defRPr sz="1100"/>
              </a:pPr>
            </a:p>
          </p:txBody>
        </p:sp>
        <p:sp>
          <p:nvSpPr>
            <p:cNvPr id="703" name="More men  return to village"/>
            <p:cNvSpPr txBox="1"/>
            <p:nvPr/>
          </p:nvSpPr>
          <p:spPr>
            <a:xfrm>
              <a:off x="170032" y="167753"/>
              <a:ext cx="1280457" cy="300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p>
              <a:pPr algn="ctr">
                <a:defRPr b="1" sz="1100">
                  <a:solidFill>
                    <a:srgbClr val="1A1A1A"/>
                  </a:solidFill>
                </a:defRPr>
              </a:pPr>
              <a:r>
                <a:t>More men </a:t>
              </a:r>
              <a:br/>
              <a:r>
                <a:t>return to village</a:t>
              </a:r>
            </a:p>
          </p:txBody>
        </p:sp>
      </p:grpSp>
      <p:pic>
        <p:nvPicPr>
          <p:cNvPr id="705" name="plus-lever.png" descr="plus-lever.png"/>
          <p:cNvPicPr>
            <a:picLocks noChangeAspect="0"/>
          </p:cNvPicPr>
          <p:nvPr/>
        </p:nvPicPr>
        <p:blipFill>
          <a:blip r:embed="rId4">
            <a:extLst/>
          </a:blip>
          <a:stretch>
            <a:fillRect/>
          </a:stretch>
        </p:blipFill>
        <p:spPr>
          <a:xfrm>
            <a:off x="3510128" y="3239421"/>
            <a:ext cx="2123744" cy="1016433"/>
          </a:xfrm>
          <a:prstGeom prst="rect">
            <a:avLst/>
          </a:prstGeom>
          <a:ln w="12700">
            <a:miter lim="400000"/>
          </a:ln>
        </p:spPr>
      </p:pic>
      <p:sp>
        <p:nvSpPr>
          <p:cNvPr id="706" name="Restoring ponds and traditional village council"/>
          <p:cNvSpPr txBox="1"/>
          <p:nvPr/>
        </p:nvSpPr>
        <p:spPr>
          <a:xfrm>
            <a:off x="3946391" y="3484545"/>
            <a:ext cx="1251217" cy="544705"/>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lstStyle/>
          <a:p>
            <a:pPr algn="ctr">
              <a:defRPr b="1" sz="1100">
                <a:solidFill>
                  <a:srgbClr val="FFF8F5"/>
                </a:solidFill>
              </a:defRPr>
            </a:pPr>
            <a:r>
              <a:t>Restoring ponds</a:t>
            </a:r>
            <a:br/>
            <a:r>
              <a:t>and traditional village council</a:t>
            </a:r>
          </a:p>
        </p:txBody>
      </p:sp>
      <p:pic>
        <p:nvPicPr>
          <p:cNvPr id="707" name="ETP_Logo.svg" descr="ETP_Logo.svg"/>
          <p:cNvPicPr>
            <a:picLocks noChangeAspect="1"/>
          </p:cNvPicPr>
          <p:nvPr/>
        </p:nvPicPr>
        <p:blipFill>
          <a:blip r:embed="rId5">
            <a:extLst/>
          </a:blip>
          <a:stretch>
            <a:fillRect/>
          </a:stretch>
        </p:blipFill>
        <p:spPr>
          <a:xfrm>
            <a:off x="7912923" y="93416"/>
            <a:ext cx="1079386" cy="142352"/>
          </a:xfrm>
          <a:prstGeom prst="rect">
            <a:avLst/>
          </a:prstGeom>
          <a:ln w="12700">
            <a:miter lim="400000"/>
          </a:ln>
        </p:spPr>
      </p:pic>
      <p:grpSp>
        <p:nvGrpSpPr>
          <p:cNvPr id="716" name="Group"/>
          <p:cNvGrpSpPr/>
          <p:nvPr/>
        </p:nvGrpSpPr>
        <p:grpSpPr>
          <a:xfrm>
            <a:off x="88161" y="3788947"/>
            <a:ext cx="2494166" cy="445149"/>
            <a:chOff x="0" y="0"/>
            <a:chExt cx="2494165" cy="445147"/>
          </a:xfrm>
        </p:grpSpPr>
        <p:sp>
          <p:nvSpPr>
            <p:cNvPr id="708" name="Google Shape;18;p3"/>
            <p:cNvSpPr/>
            <p:nvPr/>
          </p:nvSpPr>
          <p:spPr>
            <a:xfrm>
              <a:off x="0" y="0"/>
              <a:ext cx="2494166" cy="445148"/>
            </a:xfrm>
            <a:prstGeom prst="rect">
              <a:avLst/>
            </a:prstGeom>
            <a:solidFill>
              <a:srgbClr val="FFFFFF"/>
            </a:solidFill>
            <a:ln w="9525" cap="flat">
              <a:solidFill>
                <a:srgbClr val="888888"/>
              </a:solidFill>
              <a:prstDash val="solid"/>
              <a:round/>
            </a:ln>
            <a:effectLst/>
          </p:spPr>
          <p:txBody>
            <a:bodyPr wrap="square" lIns="0" tIns="0" rIns="0" bIns="0" numCol="1" anchor="ctr">
              <a:noAutofit/>
            </a:bodyPr>
            <a:lstStyle/>
            <a:p>
              <a:pPr>
                <a:defRPr sz="1400">
                  <a:latin typeface="Arial"/>
                  <a:ea typeface="Arial"/>
                  <a:cs typeface="Arial"/>
                  <a:sym typeface="Arial"/>
                </a:defRPr>
              </a:pPr>
            </a:p>
          </p:txBody>
        </p:sp>
        <p:sp>
          <p:nvSpPr>
            <p:cNvPr id="709" name="Google Shape;19;p3"/>
            <p:cNvSpPr txBox="1"/>
            <p:nvPr/>
          </p:nvSpPr>
          <p:spPr>
            <a:xfrm>
              <a:off x="80335" y="59871"/>
              <a:ext cx="1376400"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b="1" sz="800">
                  <a:solidFill>
                    <a:srgbClr val="2D5016"/>
                  </a:solidFill>
                </a:defRPr>
              </a:lvl1pPr>
            </a:lstStyle>
            <a:p>
              <a:pPr/>
              <a:r>
                <a:t>DIAGRAM KEY</a:t>
              </a:r>
            </a:p>
          </p:txBody>
        </p:sp>
        <p:sp>
          <p:nvSpPr>
            <p:cNvPr id="710" name="Google Shape;30;p3"/>
            <p:cNvSpPr/>
            <p:nvPr/>
          </p:nvSpPr>
          <p:spPr>
            <a:xfrm>
              <a:off x="1100142" y="240658"/>
              <a:ext cx="185871" cy="146846"/>
            </a:xfrm>
            <a:prstGeom prst="rect">
              <a:avLst/>
            </a:prstGeom>
            <a:solidFill>
              <a:srgbClr val="FFFCD7"/>
            </a:solidFill>
            <a:ln w="12700" cap="flat">
              <a:solidFill>
                <a:srgbClr val="CCC0AB"/>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711" name="Google Shape;36;p3"/>
            <p:cNvSpPr/>
            <p:nvPr/>
          </p:nvSpPr>
          <p:spPr>
            <a:xfrm>
              <a:off x="1767947" y="228192"/>
              <a:ext cx="188526" cy="161818"/>
            </a:xfrm>
            <a:prstGeom prst="ellipse">
              <a:avLst/>
            </a:prstGeom>
            <a:solidFill>
              <a:srgbClr val="DCF1E8"/>
            </a:solidFill>
            <a:ln w="9525" cap="flat">
              <a:solidFill>
                <a:srgbClr val="ADBDB6"/>
              </a:solidFill>
              <a:prstDash val="solid"/>
              <a:round/>
            </a:ln>
            <a:effectLst/>
          </p:spPr>
          <p:txBody>
            <a:bodyPr wrap="square" lIns="0" tIns="0" rIns="0" bIns="0" numCol="1" anchor="ctr">
              <a:noAutofit/>
            </a:bodyPr>
            <a:lstStyle/>
            <a:p>
              <a:pPr algn="ctr">
                <a:defRPr b="1" sz="1100">
                  <a:solidFill>
                    <a:srgbClr val="1A1A1A"/>
                  </a:solidFill>
                  <a:latin typeface="+mn-lt"/>
                  <a:ea typeface="+mn-ea"/>
                  <a:cs typeface="+mn-cs"/>
                  <a:sym typeface="Helvetica"/>
                </a:defRPr>
              </a:pPr>
            </a:p>
          </p:txBody>
        </p:sp>
        <p:sp>
          <p:nvSpPr>
            <p:cNvPr id="712" name="Google Shape;23;p3"/>
            <p:cNvSpPr txBox="1"/>
            <p:nvPr/>
          </p:nvSpPr>
          <p:spPr>
            <a:xfrm>
              <a:off x="384152" y="284238"/>
              <a:ext cx="768766"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Positive Lever</a:t>
              </a:r>
            </a:p>
          </p:txBody>
        </p:sp>
        <p:sp>
          <p:nvSpPr>
            <p:cNvPr id="713" name="Google Shape;25;p3"/>
            <p:cNvSpPr txBox="1"/>
            <p:nvPr/>
          </p:nvSpPr>
          <p:spPr>
            <a:xfrm>
              <a:off x="1346907" y="284210"/>
              <a:ext cx="415274"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Action</a:t>
              </a:r>
            </a:p>
          </p:txBody>
        </p:sp>
        <p:sp>
          <p:nvSpPr>
            <p:cNvPr id="714" name="Google Shape;25;p3"/>
            <p:cNvSpPr txBox="1"/>
            <p:nvPr/>
          </p:nvSpPr>
          <p:spPr>
            <a:xfrm>
              <a:off x="2017065" y="284238"/>
              <a:ext cx="371218" cy="1062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defRPr sz="800">
                  <a:solidFill>
                    <a:srgbClr val="1A1A1A"/>
                  </a:solidFill>
                </a:defRPr>
              </a:lvl1pPr>
            </a:lstStyle>
            <a:p>
              <a:pPr/>
              <a:r>
                <a:t>= Result</a:t>
              </a:r>
            </a:p>
          </p:txBody>
        </p:sp>
        <p:pic>
          <p:nvPicPr>
            <p:cNvPr id="715" name="plus-lever.png" descr="plus-lever.png"/>
            <p:cNvPicPr>
              <a:picLocks noChangeAspect="1"/>
            </p:cNvPicPr>
            <p:nvPr/>
          </p:nvPicPr>
          <p:blipFill>
            <a:blip r:embed="rId4">
              <a:extLst/>
            </a:blip>
            <a:srcRect l="0" t="0" r="0" b="0"/>
            <a:stretch>
              <a:fillRect/>
            </a:stretch>
          </p:blipFill>
          <p:spPr>
            <a:xfrm>
              <a:off x="163928" y="230273"/>
              <a:ext cx="196516" cy="167616"/>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AF7"/>
        </a:solidFill>
      </p:bgPr>
    </p:bg>
    <p:spTree>
      <p:nvGrpSpPr>
        <p:cNvPr id="1" name=""/>
        <p:cNvGrpSpPr/>
        <p:nvPr/>
      </p:nvGrpSpPr>
      <p:grpSpPr>
        <a:xfrm>
          <a:off x="0" y="0"/>
          <a:ext cx="0" cy="0"/>
          <a:chOff x="0" y="0"/>
          <a:chExt cx="0" cy="0"/>
        </a:xfrm>
      </p:grpSpPr>
      <p:sp>
        <p:nvSpPr>
          <p:cNvPr id="720" name="Text 0"/>
          <p:cNvSpPr txBox="1"/>
          <p:nvPr/>
        </p:nvSpPr>
        <p:spPr>
          <a:xfrm>
            <a:off x="274320" y="101092"/>
            <a:ext cx="3200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99999"/>
                </a:solidFill>
              </a:defRPr>
            </a:lvl1pPr>
          </a:lstStyle>
          <a:p>
            <a:pPr/>
            <a:r>
              <a:t>Reverse It: Finding the Lever</a:t>
            </a:r>
          </a:p>
        </p:txBody>
      </p:sp>
      <p:sp>
        <p:nvSpPr>
          <p:cNvPr id="721" name="Text 1"/>
          <p:cNvSpPr txBox="1"/>
          <p:nvPr/>
        </p:nvSpPr>
        <p:spPr>
          <a:xfrm>
            <a:off x="914400" y="1135379"/>
            <a:ext cx="73152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i="1" sz="2600">
                <a:solidFill>
                  <a:srgbClr val="2D5016"/>
                </a:solidFill>
                <a:latin typeface="Georgia"/>
                <a:ea typeface="Georgia"/>
                <a:cs typeface="Georgia"/>
                <a:sym typeface="Georgia"/>
              </a:defRPr>
            </a:lvl1pPr>
          </a:lstStyle>
          <a:p>
            <a:pPr/>
            <a:r>
              <a:t>Look at your diagram.</a:t>
            </a:r>
          </a:p>
        </p:txBody>
      </p:sp>
      <p:sp>
        <p:nvSpPr>
          <p:cNvPr id="722" name="Text 2"/>
          <p:cNvSpPr txBox="1"/>
          <p:nvPr/>
        </p:nvSpPr>
        <p:spPr>
          <a:xfrm>
            <a:off x="914400" y="2146300"/>
            <a:ext cx="73152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2000">
                <a:solidFill>
                  <a:srgbClr val="4A7C59"/>
                </a:solidFill>
                <a:latin typeface="Georgia"/>
                <a:ea typeface="Georgia"/>
                <a:cs typeface="Georgia"/>
                <a:sym typeface="Georgia"/>
              </a:defRPr>
            </a:lvl1pPr>
          </a:lstStyle>
          <a:p>
            <a:pPr/>
            <a:r>
              <a:t>Where do the vicious cycles overlap?</a:t>
            </a:r>
          </a:p>
        </p:txBody>
      </p:sp>
      <p:sp>
        <p:nvSpPr>
          <p:cNvPr id="723" name="Text 3"/>
          <p:cNvSpPr txBox="1"/>
          <p:nvPr/>
        </p:nvSpPr>
        <p:spPr>
          <a:xfrm>
            <a:off x="914400" y="2877820"/>
            <a:ext cx="73152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2000">
                <a:solidFill>
                  <a:srgbClr val="4A7C59"/>
                </a:solidFill>
                <a:latin typeface="Georgia"/>
                <a:ea typeface="Georgia"/>
                <a:cs typeface="Georgia"/>
                <a:sym typeface="Georgia"/>
              </a:defRPr>
            </a:lvl1pPr>
          </a:lstStyle>
          <a:p>
            <a:pPr/>
            <a:r>
              <a:t>Where could a change in one place affect more than one cycle?</a:t>
            </a:r>
          </a:p>
        </p:txBody>
      </p:sp>
      <p:sp>
        <p:nvSpPr>
          <p:cNvPr id="724" name="Text 4"/>
          <p:cNvSpPr txBox="1"/>
          <p:nvPr/>
        </p:nvSpPr>
        <p:spPr>
          <a:xfrm>
            <a:off x="914400" y="3910330"/>
            <a:ext cx="731520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D5016"/>
                </a:solidFill>
                <a:latin typeface="Georgia"/>
                <a:ea typeface="Georgia"/>
                <a:cs typeface="Georgia"/>
                <a:sym typeface="Georgia"/>
              </a:defRPr>
            </a:lvl1pPr>
          </a:lstStyle>
          <a:p>
            <a:pPr/>
            <a:r>
              <a:t>That's a good place to start looking for the lever.</a:t>
            </a:r>
          </a:p>
        </p:txBody>
      </p:sp>
      <p:pic>
        <p:nvPicPr>
          <p:cNvPr id="725" name="ETP_Logo.svg" descr="ETP_Logo.svg"/>
          <p:cNvPicPr>
            <a:picLocks noChangeAspect="1"/>
          </p:cNvPicPr>
          <p:nvPr/>
        </p:nvPicPr>
        <p:blipFill>
          <a:blip r:embed="rId3">
            <a:extLst/>
          </a:blip>
          <a:stretch>
            <a:fillRect/>
          </a:stretch>
        </p:blipFill>
        <p:spPr>
          <a:xfrm>
            <a:off x="7912923" y="93416"/>
            <a:ext cx="1079386" cy="14235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
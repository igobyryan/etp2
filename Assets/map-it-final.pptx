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a:latin typeface="+mn-lt"/>
        <a:ea typeface="+mn-ea"/>
        <a:cs typeface="+mn-cs"/>
        <a:sym typeface="Calibri"/>
      </a:defRPr>
    </a:lvl1pPr>
    <a:lvl2pPr indent="228600" latinLnBrk="0">
      <a:defRPr>
        <a:latin typeface="+mn-lt"/>
        <a:ea typeface="+mn-ea"/>
        <a:cs typeface="+mn-cs"/>
        <a:sym typeface="Calibri"/>
      </a:defRPr>
    </a:lvl2pPr>
    <a:lvl3pPr indent="457200" latinLnBrk="0">
      <a:defRPr>
        <a:latin typeface="+mn-lt"/>
        <a:ea typeface="+mn-ea"/>
        <a:cs typeface="+mn-cs"/>
        <a:sym typeface="Calibri"/>
      </a:defRPr>
    </a:lvl3pPr>
    <a:lvl4pPr indent="685800" latinLnBrk="0">
      <a:defRPr>
        <a:latin typeface="+mn-lt"/>
        <a:ea typeface="+mn-ea"/>
        <a:cs typeface="+mn-cs"/>
        <a:sym typeface="Calibri"/>
      </a:defRPr>
    </a:lvl4pPr>
    <a:lvl5pPr indent="914400" latinLnBrk="0">
      <a:defRPr>
        <a:latin typeface="+mn-lt"/>
        <a:ea typeface="+mn-ea"/>
        <a:cs typeface="+mn-cs"/>
        <a:sym typeface="Calibri"/>
      </a:defRPr>
    </a:lvl5pPr>
    <a:lvl6pPr indent="1143000" latinLnBrk="0">
      <a:defRPr>
        <a:latin typeface="+mn-lt"/>
        <a:ea typeface="+mn-ea"/>
        <a:cs typeface="+mn-cs"/>
        <a:sym typeface="Calibri"/>
      </a:defRPr>
    </a:lvl6pPr>
    <a:lvl7pPr indent="1371600" latinLnBrk="0">
      <a:defRPr>
        <a:latin typeface="+mn-lt"/>
        <a:ea typeface="+mn-ea"/>
        <a:cs typeface="+mn-cs"/>
        <a:sym typeface="Calibri"/>
      </a:defRPr>
    </a:lvl7pPr>
    <a:lvl8pPr indent="1600200" latinLnBrk="0">
      <a:defRPr>
        <a:latin typeface="+mn-lt"/>
        <a:ea typeface="+mn-ea"/>
        <a:cs typeface="+mn-cs"/>
        <a:sym typeface="Calibri"/>
      </a:defRPr>
    </a:lvl8pPr>
    <a:lvl9pPr indent="1828800" latinLnBrk="0">
      <a:defRPr>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 name="Shape 24"/>
          <p:cNvSpPr/>
          <p:nvPr>
            <p:ph type="sldImg"/>
          </p:nvPr>
        </p:nvSpPr>
        <p:spPr>
          <a:prstGeom prst="rect">
            <a:avLst/>
          </a:prstGeom>
        </p:spPr>
        <p:txBody>
          <a:bodyPr/>
          <a:lstStyle/>
          <a:p>
            <a:pPr/>
          </a:p>
        </p:txBody>
      </p:sp>
      <p:sp>
        <p:nvSpPr>
          <p:cNvPr id="25" name="Shape 25"/>
          <p:cNvSpPr/>
          <p:nvPr>
            <p:ph type="body" sz="quarter" idx="1"/>
          </p:nvPr>
        </p:nvSpPr>
        <p:spPr>
          <a:prstGeom prst="rect">
            <a:avLst/>
          </a:prstGeom>
        </p:spPr>
        <p:txBody>
          <a:bodyPr/>
          <a:lstStyle/>
          <a:p>
            <a:pPr/>
            <a:r>
              <a:t>Set the scene before starting. This is a community mapping session; the room should understand that before the first slide. If participants don't know each other, brief introductions first.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 name="Shape 34"/>
          <p:cNvSpPr/>
          <p:nvPr>
            <p:ph type="sldImg"/>
          </p:nvPr>
        </p:nvSpPr>
        <p:spPr>
          <a:prstGeom prst="rect">
            <a:avLst/>
          </a:prstGeom>
        </p:spPr>
        <p:txBody>
          <a:bodyPr/>
          <a:lstStyle/>
          <a:p>
            <a:pPr/>
          </a:p>
        </p:txBody>
      </p:sp>
      <p:sp>
        <p:nvSpPr>
          <p:cNvPr id="35" name="Shape 35"/>
          <p:cNvSpPr/>
          <p:nvPr>
            <p:ph type="body" sz="quarter" idx="1"/>
          </p:nvPr>
        </p:nvSpPr>
        <p:spPr>
          <a:prstGeom prst="rect">
            <a:avLst/>
          </a:prstGeom>
        </p:spPr>
        <p:txBody>
          <a:bodyPr/>
          <a:lstStyle/>
          <a:p>
            <a:pPr/>
            <a:r>
              <a:t>Start with one loss. Don't rush this. Let the fishing families' situation land before moving forward. The diagram builds from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64"/>
          <p:cNvSpPr/>
          <p:nvPr>
            <p:ph type="sldImg"/>
          </p:nvPr>
        </p:nvSpPr>
        <p:spPr>
          <a:prstGeom prst="rect">
            <a:avLst/>
          </a:prstGeom>
        </p:spPr>
        <p:txBody>
          <a:bodyPr/>
          <a:lstStyle/>
          <a:p>
            <a:pPr/>
          </a:p>
        </p:txBody>
      </p:sp>
      <p:sp>
        <p:nvSpPr>
          <p:cNvPr id="65" name="Shape 65"/>
          <p:cNvSpPr/>
          <p:nvPr>
            <p:ph type="body" sz="quarter" idx="1"/>
          </p:nvPr>
        </p:nvSpPr>
        <p:spPr>
          <a:prstGeom prst="rect">
            <a:avLst/>
          </a:prstGeom>
        </p:spPr>
        <p:txBody>
          <a:bodyPr/>
          <a:lstStyle/>
          <a:p>
            <a:pPr/>
            <a:r>
              <a:t>At this point, the community was positioned to think about why this happened and what role they played.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Dynamite fishing is the lever. Name it clearly. The cause isn't vague decline; it's a specific action with a specific effect on the whole system.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First loop forming. Trace it slowly: less coral, fewer fish, more pressure to use dynamite. One cause feeding the next.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Name the pattern explicitly: this is a vicious cycle. The worse things got, the worse it made everything else. Give that a moment before moving 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r>
              <a:t>Second cause entering the system. Fishermen traveling further out isn't just a symptom; it's a new pressure, and it feeds back into the first loop.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Now both cycles are running. Point to where they connect. The diagram is getting more complex; that's the point.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This is the full map. Not a list; a system. Pause here before moving to Rajasthan. Let the room see the whole thing before you complicate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Shape 294"/>
          <p:cNvSpPr/>
          <p:nvPr>
            <p:ph type="sldImg"/>
          </p:nvPr>
        </p:nvSpPr>
        <p:spPr>
          <a:prstGeom prst="rect">
            <a:avLst/>
          </a:prstGeom>
        </p:spPr>
        <p:txBody>
          <a:bodyPr/>
          <a:lstStyle/>
          <a:p>
            <a:pPr/>
          </a:p>
        </p:txBody>
      </p:sp>
      <p:sp>
        <p:nvSpPr>
          <p:cNvPr id="295" name="Shape 295"/>
          <p:cNvSpPr/>
          <p:nvPr>
            <p:ph type="body" sz="quarter" idx="1"/>
          </p:nvPr>
        </p:nvSpPr>
        <p:spPr>
          <a:prstGeom prst="rect">
            <a:avLst/>
          </a:prstGeom>
        </p:spPr>
        <p:txBody>
          <a:bodyPr/>
          <a:lstStyle/>
          <a:p>
            <a:pPr/>
            <a:r>
              <a:t>Brief transition. Don't dwell. The point is that complexity is normal; a more tangled diagram isn't a sign something went wrong. Move on quickly.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Don't walk through every connection. Point to the diagram as a whole. Then trace one loop to show how cycles feed each other. The idea to land: same structure, more cycles.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r>
              <a:t>Don't answer these questions for them. Let them sit with the diagram they built. If the room is quiet, that's fine. You're moving into the next phase. This slide is the handoff.</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D5016"/>
        </a:solidFill>
      </p:bgPr>
    </p:bg>
    <p:spTree>
      <p:nvGrpSpPr>
        <p:cNvPr id="1" name=""/>
        <p:cNvGrpSpPr/>
        <p:nvPr/>
      </p:nvGrpSpPr>
      <p:grpSpPr>
        <a:xfrm>
          <a:off x="0" y="0"/>
          <a:ext cx="0" cy="0"/>
          <a:chOff x="0" y="0"/>
          <a:chExt cx="0" cy="0"/>
        </a:xfrm>
      </p:grpSpPr>
      <p:sp>
        <p:nvSpPr>
          <p:cNvPr id="20" name="Text 0"/>
          <p:cNvSpPr txBox="1"/>
          <p:nvPr/>
        </p:nvSpPr>
        <p:spPr>
          <a:xfrm>
            <a:off x="548640" y="1327149"/>
            <a:ext cx="8046719"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FFFFFF"/>
                </a:solidFill>
                <a:latin typeface="Georgia"/>
                <a:ea typeface="Georgia"/>
                <a:cs typeface="Georgia"/>
                <a:sym typeface="Georgia"/>
              </a:defRPr>
            </a:lvl1pPr>
          </a:lstStyle>
          <a:p>
            <a:pPr/>
            <a:r>
              <a:t>Apo Island</a:t>
            </a:r>
          </a:p>
        </p:txBody>
      </p:sp>
      <p:sp>
        <p:nvSpPr>
          <p:cNvPr id="21" name="Text 1"/>
          <p:cNvSpPr txBox="1"/>
          <p:nvPr/>
        </p:nvSpPr>
        <p:spPr>
          <a:xfrm>
            <a:off x="548640" y="2011679"/>
            <a:ext cx="8046719"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2200">
                <a:solidFill>
                  <a:srgbClr val="97BC62"/>
                </a:solidFill>
                <a:latin typeface="Georgia"/>
                <a:ea typeface="Georgia"/>
                <a:cs typeface="Georgia"/>
                <a:sym typeface="Georgia"/>
              </a:defRPr>
            </a:lvl1pPr>
          </a:lstStyle>
          <a:p>
            <a:pPr/>
            <a:r>
              <a:t>Map It: Building the Map</a:t>
            </a:r>
          </a:p>
        </p:txBody>
      </p:sp>
      <p:sp>
        <p:nvSpPr>
          <p:cNvPr id="22" name="Shape 2"/>
          <p:cNvSpPr/>
          <p:nvPr/>
        </p:nvSpPr>
        <p:spPr>
          <a:xfrm>
            <a:off x="548640" y="2606039"/>
            <a:ext cx="1371601" cy="1"/>
          </a:xfrm>
          <a:prstGeom prst="line">
            <a:avLst/>
          </a:prstGeom>
          <a:ln w="19050">
            <a:solidFill>
              <a:srgbClr val="4A7C59"/>
            </a:solidFill>
          </a:ln>
        </p:spPr>
        <p:txBody>
          <a:bodyPr lIns="45719" rIns="45719"/>
          <a:lstStyle/>
          <a:p>
            <a:pPr/>
          </a:p>
        </p:txBody>
      </p:sp>
      <p:sp>
        <p:nvSpPr>
          <p:cNvPr id="23" name="Text 3"/>
          <p:cNvSpPr txBox="1"/>
          <p:nvPr/>
        </p:nvSpPr>
        <p:spPr>
          <a:xfrm>
            <a:off x="548640" y="2788920"/>
            <a:ext cx="8046719" cy="7340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spcBef>
                <a:spcPts val="400"/>
              </a:spcBef>
              <a:defRPr i="1" sz="1500">
                <a:solidFill>
                  <a:srgbClr val="D5E8D4"/>
                </a:solidFill>
                <a:latin typeface="Georgia"/>
                <a:ea typeface="Georgia"/>
                <a:cs typeface="Georgia"/>
                <a:sym typeface="Georgia"/>
              </a:defRPr>
            </a:lvl1pPr>
          </a:lstStyle>
          <a:p>
            <a:pPr/>
            <a:r>
              <a:t>A group of fishing families has come together to understand why their situation keeps getting worse, and to find where they might be able to change it. The community is from Apo Island in the Philippines. They depend on the coral reef to live. The fish are disappearing.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sp>
        <p:nvSpPr>
          <p:cNvPr id="27"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8"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grpSp>
        <p:nvGrpSpPr>
          <p:cNvPr id="31" name="Text 1"/>
          <p:cNvGrpSpPr/>
          <p:nvPr/>
        </p:nvGrpSpPr>
        <p:grpSpPr>
          <a:xfrm>
            <a:off x="3840479" y="1920239"/>
            <a:ext cx="1463041" cy="731521"/>
            <a:chOff x="0" y="0"/>
            <a:chExt cx="1463040" cy="731520"/>
          </a:xfrm>
        </p:grpSpPr>
        <p:sp>
          <p:nvSpPr>
            <p:cNvPr id="29"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0"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sp>
        <p:nvSpPr>
          <p:cNvPr id="32" name="Text 3"/>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p>
            <a:pPr>
              <a:defRPr b="1" sz="1400">
                <a:solidFill>
                  <a:srgbClr val="FFFFFF"/>
                </a:solidFill>
              </a:defRPr>
            </a:pPr>
            <a:r>
              <a:t>That's where we start. We begin with one loss.</a:t>
            </a:r>
            <a:br/>
            <a:r>
              <a:t>Now we ask: what caused this?</a:t>
            </a:r>
          </a:p>
        </p:txBody>
      </p:sp>
      <p:pic>
        <p:nvPicPr>
          <p:cNvPr id="33" name="ETP_Logo.svg" descr="ETP_Logo.svg"/>
          <p:cNvPicPr>
            <a:picLocks noChangeAspect="1"/>
          </p:cNvPicPr>
          <p:nvPr/>
        </p:nvPicPr>
        <p:blipFill>
          <a:blip r:embed="rId3">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37"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38"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39"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40" name="Text 6"/>
          <p:cNvSpPr txBox="1"/>
          <p:nvPr/>
        </p:nvSpPr>
        <p:spPr>
          <a:xfrm>
            <a:off x="274320" y="4661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Apo Islanders knew that the dying coral reefs meant not enough food for fish to thrive.</a:t>
            </a:r>
          </a:p>
        </p:txBody>
      </p:sp>
      <p:grpSp>
        <p:nvGrpSpPr>
          <p:cNvPr id="52" name="Group"/>
          <p:cNvGrpSpPr/>
          <p:nvPr/>
        </p:nvGrpSpPr>
        <p:grpSpPr>
          <a:xfrm>
            <a:off x="128801" y="3034862"/>
            <a:ext cx="1456736" cy="1137993"/>
            <a:chOff x="0" y="0"/>
            <a:chExt cx="1456734" cy="1137992"/>
          </a:xfrm>
        </p:grpSpPr>
        <p:sp>
          <p:nvSpPr>
            <p:cNvPr id="41"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42"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45" name="Group"/>
            <p:cNvGrpSpPr/>
            <p:nvPr/>
          </p:nvGrpSpPr>
          <p:grpSpPr>
            <a:xfrm>
              <a:off x="98270" y="517072"/>
              <a:ext cx="662039" cy="149764"/>
              <a:chOff x="0" y="0"/>
              <a:chExt cx="662038" cy="149762"/>
            </a:xfrm>
          </p:grpSpPr>
          <p:sp>
            <p:nvSpPr>
              <p:cNvPr id="43"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44"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48" name="Group"/>
            <p:cNvGrpSpPr/>
            <p:nvPr/>
          </p:nvGrpSpPr>
          <p:grpSpPr>
            <a:xfrm>
              <a:off x="98270" y="778418"/>
              <a:ext cx="620336" cy="162258"/>
              <a:chOff x="0" y="0"/>
              <a:chExt cx="620335" cy="162257"/>
            </a:xfrm>
          </p:grpSpPr>
          <p:sp>
            <p:nvSpPr>
              <p:cNvPr id="46"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47"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51" name="Group"/>
            <p:cNvGrpSpPr/>
            <p:nvPr/>
          </p:nvGrpSpPr>
          <p:grpSpPr>
            <a:xfrm>
              <a:off x="98270" y="227254"/>
              <a:ext cx="980569" cy="163196"/>
              <a:chOff x="50800" y="24178"/>
              <a:chExt cx="980568" cy="163195"/>
            </a:xfrm>
          </p:grpSpPr>
          <p:sp>
            <p:nvSpPr>
              <p:cNvPr id="49"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50"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53" name="Text"/>
          <p:cNvSpPr txBox="1"/>
          <p:nvPr/>
        </p:nvSpPr>
        <p:spPr>
          <a:xfrm>
            <a:off x="4500879" y="2437129"/>
            <a:ext cx="142241"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 </a:t>
            </a:r>
          </a:p>
        </p:txBody>
      </p:sp>
      <p:sp>
        <p:nvSpPr>
          <p:cNvPr id="54" name="Rectangle"/>
          <p:cNvSpPr/>
          <p:nvPr/>
        </p:nvSpPr>
        <p:spPr>
          <a:xfrm>
            <a:off x="1384484" y="632929"/>
            <a:ext cx="6429788" cy="1863225"/>
          </a:xfrm>
          <a:prstGeom prst="rect">
            <a:avLst/>
          </a:prstGeom>
          <a:solidFill>
            <a:srgbClr val="FFFAF7"/>
          </a:solidFill>
          <a:ln w="12700">
            <a:miter lim="400000"/>
          </a:ln>
        </p:spPr>
        <p:txBody>
          <a:bodyPr lIns="45719" rIns="45719" anchor="ctr"/>
          <a:lstStyle/>
          <a:p>
            <a:pPr/>
          </a:p>
        </p:txBody>
      </p:sp>
      <p:sp>
        <p:nvSpPr>
          <p:cNvPr id="55" name="Rectangle"/>
          <p:cNvSpPr/>
          <p:nvPr/>
        </p:nvSpPr>
        <p:spPr>
          <a:xfrm>
            <a:off x="6180066" y="1612374"/>
            <a:ext cx="1259426" cy="1776064"/>
          </a:xfrm>
          <a:prstGeom prst="rect">
            <a:avLst/>
          </a:prstGeom>
          <a:solidFill>
            <a:srgbClr val="FFFAF7"/>
          </a:solidFill>
          <a:ln w="12700">
            <a:miter lim="400000"/>
          </a:ln>
        </p:spPr>
        <p:txBody>
          <a:bodyPr lIns="45719" rIns="45719" anchor="ctr"/>
          <a:lstStyle/>
          <a:p>
            <a:pPr/>
          </a:p>
        </p:txBody>
      </p:sp>
      <p:sp>
        <p:nvSpPr>
          <p:cNvPr id="56" name="Rectangle"/>
          <p:cNvSpPr/>
          <p:nvPr/>
        </p:nvSpPr>
        <p:spPr>
          <a:xfrm>
            <a:off x="4051546" y="3012964"/>
            <a:ext cx="2255694" cy="1023842"/>
          </a:xfrm>
          <a:prstGeom prst="rect">
            <a:avLst/>
          </a:prstGeom>
          <a:solidFill>
            <a:srgbClr val="FFFAF7"/>
          </a:solidFill>
          <a:ln w="12700">
            <a:miter lim="400000"/>
          </a:ln>
        </p:spPr>
        <p:txBody>
          <a:bodyPr lIns="45719" rIns="45719" anchor="ctr"/>
          <a:lstStyle/>
          <a:p>
            <a:pPr/>
          </a:p>
        </p:txBody>
      </p:sp>
      <p:grpSp>
        <p:nvGrpSpPr>
          <p:cNvPr id="59" name="Text 4"/>
          <p:cNvGrpSpPr/>
          <p:nvPr/>
        </p:nvGrpSpPr>
        <p:grpSpPr>
          <a:xfrm>
            <a:off x="2407920" y="2707639"/>
            <a:ext cx="1828801" cy="914401"/>
            <a:chOff x="0" y="0"/>
            <a:chExt cx="1828800" cy="914400"/>
          </a:xfrm>
        </p:grpSpPr>
        <p:sp>
          <p:nvSpPr>
            <p:cNvPr id="57"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8"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62" name="Text 6"/>
          <p:cNvGrpSpPr/>
          <p:nvPr/>
        </p:nvGrpSpPr>
        <p:grpSpPr>
          <a:xfrm>
            <a:off x="4084320" y="1760220"/>
            <a:ext cx="1463041" cy="731521"/>
            <a:chOff x="0" y="0"/>
            <a:chExt cx="1463040" cy="731520"/>
          </a:xfrm>
        </p:grpSpPr>
        <p:sp>
          <p:nvSpPr>
            <p:cNvPr id="60"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1"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pic>
        <p:nvPicPr>
          <p:cNvPr id="63"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67"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68"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69"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70" name="Text 6"/>
          <p:cNvSpPr txBox="1"/>
          <p:nvPr/>
        </p:nvSpPr>
        <p:spPr>
          <a:xfrm>
            <a:off x="274320" y="4649024"/>
            <a:ext cx="8595360" cy="1913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Dynamite fishing had come to the Philippines. It caught a lot of fish fast. It destroyed the coral the fish depended on.</a:t>
            </a:r>
          </a:p>
        </p:txBody>
      </p:sp>
      <p:grpSp>
        <p:nvGrpSpPr>
          <p:cNvPr id="73" name="Text 2"/>
          <p:cNvGrpSpPr/>
          <p:nvPr/>
        </p:nvGrpSpPr>
        <p:grpSpPr>
          <a:xfrm>
            <a:off x="2499359" y="746759"/>
            <a:ext cx="1645922" cy="777241"/>
            <a:chOff x="0" y="0"/>
            <a:chExt cx="1645920" cy="777240"/>
          </a:xfrm>
        </p:grpSpPr>
        <p:sp>
          <p:nvSpPr>
            <p:cNvPr id="71"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72"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76" name="Group"/>
          <p:cNvGrpSpPr/>
          <p:nvPr/>
        </p:nvGrpSpPr>
        <p:grpSpPr>
          <a:xfrm>
            <a:off x="459077" y="996551"/>
            <a:ext cx="1488797" cy="1269852"/>
            <a:chOff x="0" y="0"/>
            <a:chExt cx="1488795" cy="1269851"/>
          </a:xfrm>
        </p:grpSpPr>
        <p:pic>
          <p:nvPicPr>
            <p:cNvPr id="74"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75"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88" name="Group"/>
          <p:cNvGrpSpPr/>
          <p:nvPr/>
        </p:nvGrpSpPr>
        <p:grpSpPr>
          <a:xfrm>
            <a:off x="128801" y="3034862"/>
            <a:ext cx="1456736" cy="1137993"/>
            <a:chOff x="0" y="0"/>
            <a:chExt cx="1456734" cy="1137992"/>
          </a:xfrm>
        </p:grpSpPr>
        <p:sp>
          <p:nvSpPr>
            <p:cNvPr id="77"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78"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81" name="Group"/>
            <p:cNvGrpSpPr/>
            <p:nvPr/>
          </p:nvGrpSpPr>
          <p:grpSpPr>
            <a:xfrm>
              <a:off x="98270" y="517072"/>
              <a:ext cx="662039" cy="149764"/>
              <a:chOff x="0" y="0"/>
              <a:chExt cx="662038" cy="149762"/>
            </a:xfrm>
          </p:grpSpPr>
          <p:sp>
            <p:nvSpPr>
              <p:cNvPr id="79"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80"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84" name="Group"/>
            <p:cNvGrpSpPr/>
            <p:nvPr/>
          </p:nvGrpSpPr>
          <p:grpSpPr>
            <a:xfrm>
              <a:off x="98270" y="778418"/>
              <a:ext cx="620336" cy="162258"/>
              <a:chOff x="0" y="0"/>
              <a:chExt cx="620335" cy="162257"/>
            </a:xfrm>
          </p:grpSpPr>
          <p:sp>
            <p:nvSpPr>
              <p:cNvPr id="82"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83"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87" name="Group"/>
            <p:cNvGrpSpPr/>
            <p:nvPr/>
          </p:nvGrpSpPr>
          <p:grpSpPr>
            <a:xfrm>
              <a:off x="98270" y="227254"/>
              <a:ext cx="980569" cy="163196"/>
              <a:chOff x="50800" y="24178"/>
              <a:chExt cx="980568" cy="163195"/>
            </a:xfrm>
          </p:grpSpPr>
          <p:sp>
            <p:nvSpPr>
              <p:cNvPr id="85"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86"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89" name="Text"/>
          <p:cNvSpPr txBox="1"/>
          <p:nvPr/>
        </p:nvSpPr>
        <p:spPr>
          <a:xfrm>
            <a:off x="4500879" y="2437129"/>
            <a:ext cx="142241"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 </a:t>
            </a:r>
          </a:p>
        </p:txBody>
      </p:sp>
      <p:sp>
        <p:nvSpPr>
          <p:cNvPr id="90" name="Rectangle"/>
          <p:cNvSpPr/>
          <p:nvPr/>
        </p:nvSpPr>
        <p:spPr>
          <a:xfrm>
            <a:off x="4214435" y="436355"/>
            <a:ext cx="3346977" cy="1398050"/>
          </a:xfrm>
          <a:prstGeom prst="rect">
            <a:avLst/>
          </a:prstGeom>
          <a:solidFill>
            <a:srgbClr val="FFFAF7"/>
          </a:solidFill>
          <a:ln w="12700">
            <a:miter lim="400000"/>
          </a:ln>
        </p:spPr>
        <p:txBody>
          <a:bodyPr lIns="45719" rIns="45719" anchor="ctr"/>
          <a:lstStyle/>
          <a:p>
            <a:pPr/>
          </a:p>
        </p:txBody>
      </p:sp>
      <p:sp>
        <p:nvSpPr>
          <p:cNvPr id="91" name="Rectangle"/>
          <p:cNvSpPr/>
          <p:nvPr/>
        </p:nvSpPr>
        <p:spPr>
          <a:xfrm>
            <a:off x="6180066" y="1612374"/>
            <a:ext cx="1259426" cy="1776064"/>
          </a:xfrm>
          <a:prstGeom prst="rect">
            <a:avLst/>
          </a:prstGeom>
          <a:solidFill>
            <a:srgbClr val="FFFAF7"/>
          </a:solidFill>
          <a:ln w="12700">
            <a:miter lim="400000"/>
          </a:ln>
        </p:spPr>
        <p:txBody>
          <a:bodyPr lIns="45719" rIns="45719" anchor="ctr"/>
          <a:lstStyle/>
          <a:p>
            <a:pPr/>
          </a:p>
        </p:txBody>
      </p:sp>
      <p:sp>
        <p:nvSpPr>
          <p:cNvPr id="92" name="Rectangle"/>
          <p:cNvSpPr/>
          <p:nvPr/>
        </p:nvSpPr>
        <p:spPr>
          <a:xfrm>
            <a:off x="4051546" y="3012964"/>
            <a:ext cx="2255694" cy="1023842"/>
          </a:xfrm>
          <a:prstGeom prst="rect">
            <a:avLst/>
          </a:prstGeom>
          <a:solidFill>
            <a:srgbClr val="FFFAF7"/>
          </a:solidFill>
          <a:ln w="12700">
            <a:miter lim="400000"/>
          </a:ln>
        </p:spPr>
        <p:txBody>
          <a:bodyPr lIns="45719" rIns="45719" anchor="ctr"/>
          <a:lstStyle/>
          <a:p>
            <a:pPr/>
          </a:p>
        </p:txBody>
      </p:sp>
      <p:grpSp>
        <p:nvGrpSpPr>
          <p:cNvPr id="95" name="Text 4"/>
          <p:cNvGrpSpPr/>
          <p:nvPr/>
        </p:nvGrpSpPr>
        <p:grpSpPr>
          <a:xfrm>
            <a:off x="2407920" y="2707639"/>
            <a:ext cx="1828801" cy="914401"/>
            <a:chOff x="0" y="0"/>
            <a:chExt cx="1828800" cy="914400"/>
          </a:xfrm>
        </p:grpSpPr>
        <p:sp>
          <p:nvSpPr>
            <p:cNvPr id="93"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94"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98" name="Text 6"/>
          <p:cNvGrpSpPr/>
          <p:nvPr/>
        </p:nvGrpSpPr>
        <p:grpSpPr>
          <a:xfrm>
            <a:off x="4084320" y="1760220"/>
            <a:ext cx="1463041" cy="731521"/>
            <a:chOff x="0" y="0"/>
            <a:chExt cx="1463040" cy="731520"/>
          </a:xfrm>
        </p:grpSpPr>
        <p:sp>
          <p:nvSpPr>
            <p:cNvPr id="96"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97"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pic>
        <p:nvPicPr>
          <p:cNvPr id="99"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03"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104"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05"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106" name="Text 6"/>
          <p:cNvSpPr txBox="1"/>
          <p:nvPr/>
        </p:nvSpPr>
        <p:spPr>
          <a:xfrm>
            <a:off x="274320" y="4649024"/>
            <a:ext cx="8595360" cy="1913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Less coral. Fewer fish. And with fewer fish, the pressure to use dynamite only grew stronger.</a:t>
            </a:r>
          </a:p>
        </p:txBody>
      </p:sp>
      <p:grpSp>
        <p:nvGrpSpPr>
          <p:cNvPr id="109" name="Text 2"/>
          <p:cNvGrpSpPr/>
          <p:nvPr/>
        </p:nvGrpSpPr>
        <p:grpSpPr>
          <a:xfrm>
            <a:off x="2499359" y="746759"/>
            <a:ext cx="1645922" cy="777241"/>
            <a:chOff x="0" y="0"/>
            <a:chExt cx="1645920" cy="777240"/>
          </a:xfrm>
        </p:grpSpPr>
        <p:sp>
          <p:nvSpPr>
            <p:cNvPr id="107"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08"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112" name="Text 6"/>
          <p:cNvGrpSpPr/>
          <p:nvPr/>
        </p:nvGrpSpPr>
        <p:grpSpPr>
          <a:xfrm>
            <a:off x="4084320" y="1760220"/>
            <a:ext cx="1463041" cy="731521"/>
            <a:chOff x="0" y="0"/>
            <a:chExt cx="1463040" cy="731520"/>
          </a:xfrm>
        </p:grpSpPr>
        <p:sp>
          <p:nvSpPr>
            <p:cNvPr id="110"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11"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grpSp>
        <p:nvGrpSpPr>
          <p:cNvPr id="115" name="Group"/>
          <p:cNvGrpSpPr/>
          <p:nvPr/>
        </p:nvGrpSpPr>
        <p:grpSpPr>
          <a:xfrm>
            <a:off x="459077" y="996551"/>
            <a:ext cx="1488797" cy="1269852"/>
            <a:chOff x="0" y="0"/>
            <a:chExt cx="1488795" cy="1269851"/>
          </a:xfrm>
        </p:grpSpPr>
        <p:pic>
          <p:nvPicPr>
            <p:cNvPr id="113"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114"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127" name="Group"/>
          <p:cNvGrpSpPr/>
          <p:nvPr/>
        </p:nvGrpSpPr>
        <p:grpSpPr>
          <a:xfrm>
            <a:off x="128801" y="3034862"/>
            <a:ext cx="1456736" cy="1137993"/>
            <a:chOff x="0" y="0"/>
            <a:chExt cx="1456734" cy="1137992"/>
          </a:xfrm>
        </p:grpSpPr>
        <p:sp>
          <p:nvSpPr>
            <p:cNvPr id="116"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17"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120" name="Group"/>
            <p:cNvGrpSpPr/>
            <p:nvPr/>
          </p:nvGrpSpPr>
          <p:grpSpPr>
            <a:xfrm>
              <a:off x="98270" y="517072"/>
              <a:ext cx="662039" cy="149764"/>
              <a:chOff x="0" y="0"/>
              <a:chExt cx="662038" cy="149762"/>
            </a:xfrm>
          </p:grpSpPr>
          <p:sp>
            <p:nvSpPr>
              <p:cNvPr id="118"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19"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123" name="Group"/>
            <p:cNvGrpSpPr/>
            <p:nvPr/>
          </p:nvGrpSpPr>
          <p:grpSpPr>
            <a:xfrm>
              <a:off x="98270" y="778418"/>
              <a:ext cx="620336" cy="162258"/>
              <a:chOff x="0" y="0"/>
              <a:chExt cx="620335" cy="162257"/>
            </a:xfrm>
          </p:grpSpPr>
          <p:sp>
            <p:nvSpPr>
              <p:cNvPr id="121"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22"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126" name="Group"/>
            <p:cNvGrpSpPr/>
            <p:nvPr/>
          </p:nvGrpSpPr>
          <p:grpSpPr>
            <a:xfrm>
              <a:off x="98270" y="227254"/>
              <a:ext cx="980569" cy="163196"/>
              <a:chOff x="50800" y="24178"/>
              <a:chExt cx="980568" cy="163195"/>
            </a:xfrm>
          </p:grpSpPr>
          <p:sp>
            <p:nvSpPr>
              <p:cNvPr id="124"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125"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128" name="Text"/>
          <p:cNvSpPr txBox="1"/>
          <p:nvPr/>
        </p:nvSpPr>
        <p:spPr>
          <a:xfrm>
            <a:off x="4500879" y="2437129"/>
            <a:ext cx="142241"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 </a:t>
            </a:r>
          </a:p>
        </p:txBody>
      </p:sp>
      <p:sp>
        <p:nvSpPr>
          <p:cNvPr id="129" name="Rectangle"/>
          <p:cNvSpPr/>
          <p:nvPr/>
        </p:nvSpPr>
        <p:spPr>
          <a:xfrm>
            <a:off x="4214435" y="436355"/>
            <a:ext cx="3346977" cy="802641"/>
          </a:xfrm>
          <a:prstGeom prst="rect">
            <a:avLst/>
          </a:prstGeom>
          <a:solidFill>
            <a:srgbClr val="FFFAF7"/>
          </a:solidFill>
          <a:ln w="12700">
            <a:miter lim="400000"/>
          </a:ln>
        </p:spPr>
        <p:txBody>
          <a:bodyPr lIns="45719" rIns="45719" anchor="ctr"/>
          <a:lstStyle/>
          <a:p>
            <a:pPr/>
          </a:p>
        </p:txBody>
      </p:sp>
      <p:sp>
        <p:nvSpPr>
          <p:cNvPr id="130" name="Rectangle"/>
          <p:cNvSpPr/>
          <p:nvPr/>
        </p:nvSpPr>
        <p:spPr>
          <a:xfrm>
            <a:off x="6180066" y="1612374"/>
            <a:ext cx="1259426" cy="1776064"/>
          </a:xfrm>
          <a:prstGeom prst="rect">
            <a:avLst/>
          </a:prstGeom>
          <a:solidFill>
            <a:srgbClr val="FFFAF7"/>
          </a:solidFill>
          <a:ln w="12700">
            <a:miter lim="400000"/>
          </a:ln>
        </p:spPr>
        <p:txBody>
          <a:bodyPr lIns="45719" rIns="45719" anchor="ctr"/>
          <a:lstStyle/>
          <a:p>
            <a:pPr/>
          </a:p>
        </p:txBody>
      </p:sp>
      <p:sp>
        <p:nvSpPr>
          <p:cNvPr id="131" name="Rectangle"/>
          <p:cNvSpPr/>
          <p:nvPr/>
        </p:nvSpPr>
        <p:spPr>
          <a:xfrm>
            <a:off x="4051546" y="3012964"/>
            <a:ext cx="2255694" cy="1023842"/>
          </a:xfrm>
          <a:prstGeom prst="rect">
            <a:avLst/>
          </a:prstGeom>
          <a:solidFill>
            <a:srgbClr val="FFFAF7"/>
          </a:solidFill>
          <a:ln w="12700">
            <a:miter lim="400000"/>
          </a:ln>
        </p:spPr>
        <p:txBody>
          <a:bodyPr lIns="45719" rIns="45719" anchor="ctr"/>
          <a:lstStyle/>
          <a:p>
            <a:pPr/>
          </a:p>
        </p:txBody>
      </p:sp>
      <p:grpSp>
        <p:nvGrpSpPr>
          <p:cNvPr id="134" name="Text 4"/>
          <p:cNvGrpSpPr/>
          <p:nvPr/>
        </p:nvGrpSpPr>
        <p:grpSpPr>
          <a:xfrm>
            <a:off x="2407920" y="2707639"/>
            <a:ext cx="1828801" cy="914401"/>
            <a:chOff x="0" y="0"/>
            <a:chExt cx="1828800" cy="914400"/>
          </a:xfrm>
        </p:grpSpPr>
        <p:sp>
          <p:nvSpPr>
            <p:cNvPr id="132"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33"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pic>
        <p:nvPicPr>
          <p:cNvPr id="135"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39"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140"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41"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142" name="Text 6"/>
          <p:cNvSpPr txBox="1"/>
          <p:nvPr/>
        </p:nvSpPr>
        <p:spPr>
          <a:xfrm>
            <a:off x="274320" y="4649024"/>
            <a:ext cx="8595360" cy="1913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That's the first vicious cycle. The worse things got, the worse it made everything else.</a:t>
            </a:r>
          </a:p>
        </p:txBody>
      </p:sp>
      <p:grpSp>
        <p:nvGrpSpPr>
          <p:cNvPr id="145" name="Text 2"/>
          <p:cNvGrpSpPr/>
          <p:nvPr/>
        </p:nvGrpSpPr>
        <p:grpSpPr>
          <a:xfrm>
            <a:off x="2499359" y="746759"/>
            <a:ext cx="1645922" cy="777241"/>
            <a:chOff x="0" y="0"/>
            <a:chExt cx="1645920" cy="777240"/>
          </a:xfrm>
        </p:grpSpPr>
        <p:sp>
          <p:nvSpPr>
            <p:cNvPr id="143"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44"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148" name="Text 6"/>
          <p:cNvGrpSpPr/>
          <p:nvPr/>
        </p:nvGrpSpPr>
        <p:grpSpPr>
          <a:xfrm>
            <a:off x="4084320" y="1760220"/>
            <a:ext cx="1463041" cy="731521"/>
            <a:chOff x="0" y="0"/>
            <a:chExt cx="1463040" cy="731520"/>
          </a:xfrm>
        </p:grpSpPr>
        <p:sp>
          <p:nvSpPr>
            <p:cNvPr id="146"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47"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grpSp>
        <p:nvGrpSpPr>
          <p:cNvPr id="151" name="Group"/>
          <p:cNvGrpSpPr/>
          <p:nvPr/>
        </p:nvGrpSpPr>
        <p:grpSpPr>
          <a:xfrm>
            <a:off x="459077" y="996551"/>
            <a:ext cx="1488797" cy="1269852"/>
            <a:chOff x="0" y="0"/>
            <a:chExt cx="1488795" cy="1269851"/>
          </a:xfrm>
        </p:grpSpPr>
        <p:pic>
          <p:nvPicPr>
            <p:cNvPr id="149"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150"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163" name="Group"/>
          <p:cNvGrpSpPr/>
          <p:nvPr/>
        </p:nvGrpSpPr>
        <p:grpSpPr>
          <a:xfrm>
            <a:off x="128801" y="3034862"/>
            <a:ext cx="1456736" cy="1137993"/>
            <a:chOff x="0" y="0"/>
            <a:chExt cx="1456734" cy="1137992"/>
          </a:xfrm>
        </p:grpSpPr>
        <p:sp>
          <p:nvSpPr>
            <p:cNvPr id="152"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53"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156" name="Group"/>
            <p:cNvGrpSpPr/>
            <p:nvPr/>
          </p:nvGrpSpPr>
          <p:grpSpPr>
            <a:xfrm>
              <a:off x="98270" y="517072"/>
              <a:ext cx="662039" cy="149764"/>
              <a:chOff x="0" y="0"/>
              <a:chExt cx="662038" cy="149762"/>
            </a:xfrm>
          </p:grpSpPr>
          <p:sp>
            <p:nvSpPr>
              <p:cNvPr id="154"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55"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159" name="Group"/>
            <p:cNvGrpSpPr/>
            <p:nvPr/>
          </p:nvGrpSpPr>
          <p:grpSpPr>
            <a:xfrm>
              <a:off x="98270" y="778418"/>
              <a:ext cx="620336" cy="162258"/>
              <a:chOff x="0" y="0"/>
              <a:chExt cx="620335" cy="162257"/>
            </a:xfrm>
          </p:grpSpPr>
          <p:sp>
            <p:nvSpPr>
              <p:cNvPr id="157"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58"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162" name="Group"/>
            <p:cNvGrpSpPr/>
            <p:nvPr/>
          </p:nvGrpSpPr>
          <p:grpSpPr>
            <a:xfrm>
              <a:off x="98270" y="227254"/>
              <a:ext cx="980569" cy="163196"/>
              <a:chOff x="50800" y="24178"/>
              <a:chExt cx="980568" cy="163195"/>
            </a:xfrm>
          </p:grpSpPr>
          <p:sp>
            <p:nvSpPr>
              <p:cNvPr id="160"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161"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164" name="Text"/>
          <p:cNvSpPr txBox="1"/>
          <p:nvPr/>
        </p:nvSpPr>
        <p:spPr>
          <a:xfrm>
            <a:off x="4500879" y="2437129"/>
            <a:ext cx="142241"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 </a:t>
            </a:r>
          </a:p>
        </p:txBody>
      </p:sp>
      <p:sp>
        <p:nvSpPr>
          <p:cNvPr id="165" name="Rectangle"/>
          <p:cNvSpPr/>
          <p:nvPr/>
        </p:nvSpPr>
        <p:spPr>
          <a:xfrm>
            <a:off x="4214435" y="436355"/>
            <a:ext cx="3346977" cy="802641"/>
          </a:xfrm>
          <a:prstGeom prst="rect">
            <a:avLst/>
          </a:prstGeom>
          <a:solidFill>
            <a:srgbClr val="FFFAF7"/>
          </a:solidFill>
          <a:ln w="12700">
            <a:miter lim="400000"/>
          </a:ln>
        </p:spPr>
        <p:txBody>
          <a:bodyPr lIns="45719" rIns="45719" anchor="ctr"/>
          <a:lstStyle/>
          <a:p>
            <a:pPr/>
          </a:p>
        </p:txBody>
      </p:sp>
      <p:sp>
        <p:nvSpPr>
          <p:cNvPr id="166" name="Rectangle"/>
          <p:cNvSpPr/>
          <p:nvPr/>
        </p:nvSpPr>
        <p:spPr>
          <a:xfrm>
            <a:off x="6180066" y="1612374"/>
            <a:ext cx="1259426" cy="1776064"/>
          </a:xfrm>
          <a:prstGeom prst="rect">
            <a:avLst/>
          </a:prstGeom>
          <a:solidFill>
            <a:srgbClr val="FFFAF7"/>
          </a:solidFill>
          <a:ln w="12700">
            <a:miter lim="400000"/>
          </a:ln>
        </p:spPr>
        <p:txBody>
          <a:bodyPr lIns="45719" rIns="45719" anchor="ctr"/>
          <a:lstStyle/>
          <a:p>
            <a:pPr/>
          </a:p>
        </p:txBody>
      </p:sp>
      <p:sp>
        <p:nvSpPr>
          <p:cNvPr id="167" name="Rectangle"/>
          <p:cNvSpPr/>
          <p:nvPr/>
        </p:nvSpPr>
        <p:spPr>
          <a:xfrm>
            <a:off x="4051546" y="3012964"/>
            <a:ext cx="2255694" cy="1023842"/>
          </a:xfrm>
          <a:prstGeom prst="rect">
            <a:avLst/>
          </a:prstGeom>
          <a:solidFill>
            <a:srgbClr val="FFFAF7"/>
          </a:solidFill>
          <a:ln w="12700">
            <a:miter lim="400000"/>
          </a:ln>
        </p:spPr>
        <p:txBody>
          <a:bodyPr lIns="45719" rIns="45719" anchor="ctr"/>
          <a:lstStyle/>
          <a:p>
            <a:pPr/>
          </a:p>
        </p:txBody>
      </p:sp>
      <p:grpSp>
        <p:nvGrpSpPr>
          <p:cNvPr id="170" name="Text 4"/>
          <p:cNvGrpSpPr/>
          <p:nvPr/>
        </p:nvGrpSpPr>
        <p:grpSpPr>
          <a:xfrm>
            <a:off x="2407920" y="2707639"/>
            <a:ext cx="1828801" cy="914401"/>
            <a:chOff x="0" y="0"/>
            <a:chExt cx="1828800" cy="914400"/>
          </a:xfrm>
        </p:grpSpPr>
        <p:sp>
          <p:nvSpPr>
            <p:cNvPr id="168"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69"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pic>
        <p:nvPicPr>
          <p:cNvPr id="171"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75"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176"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77"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178" name="Text 7"/>
          <p:cNvSpPr txBox="1"/>
          <p:nvPr/>
        </p:nvSpPr>
        <p:spPr>
          <a:xfrm>
            <a:off x="274320" y="4649024"/>
            <a:ext cx="8595360" cy="1913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But there was more. As fish disappeared close to shore, fishermen had to travel further out to find them.</a:t>
            </a:r>
          </a:p>
        </p:txBody>
      </p:sp>
      <p:grpSp>
        <p:nvGrpSpPr>
          <p:cNvPr id="181" name="Text 2"/>
          <p:cNvGrpSpPr/>
          <p:nvPr/>
        </p:nvGrpSpPr>
        <p:grpSpPr>
          <a:xfrm>
            <a:off x="2499359" y="746759"/>
            <a:ext cx="1645922" cy="777241"/>
            <a:chOff x="0" y="0"/>
            <a:chExt cx="1645920" cy="777240"/>
          </a:xfrm>
        </p:grpSpPr>
        <p:sp>
          <p:nvSpPr>
            <p:cNvPr id="179"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80"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184" name="Text 4"/>
          <p:cNvGrpSpPr/>
          <p:nvPr/>
        </p:nvGrpSpPr>
        <p:grpSpPr>
          <a:xfrm>
            <a:off x="2407920" y="2707639"/>
            <a:ext cx="1828801" cy="914401"/>
            <a:chOff x="0" y="0"/>
            <a:chExt cx="1828800" cy="914400"/>
          </a:xfrm>
        </p:grpSpPr>
        <p:sp>
          <p:nvSpPr>
            <p:cNvPr id="182"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83"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187" name="Text 6"/>
          <p:cNvGrpSpPr/>
          <p:nvPr/>
        </p:nvGrpSpPr>
        <p:grpSpPr>
          <a:xfrm>
            <a:off x="4084320" y="1760220"/>
            <a:ext cx="1463041" cy="731521"/>
            <a:chOff x="0" y="0"/>
            <a:chExt cx="1463040" cy="731520"/>
          </a:xfrm>
        </p:grpSpPr>
        <p:sp>
          <p:nvSpPr>
            <p:cNvPr id="185"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86"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grpSp>
        <p:nvGrpSpPr>
          <p:cNvPr id="190" name="Group"/>
          <p:cNvGrpSpPr/>
          <p:nvPr/>
        </p:nvGrpSpPr>
        <p:grpSpPr>
          <a:xfrm>
            <a:off x="459077" y="996551"/>
            <a:ext cx="1488797" cy="1269852"/>
            <a:chOff x="0" y="0"/>
            <a:chExt cx="1488795" cy="1269851"/>
          </a:xfrm>
        </p:grpSpPr>
        <p:pic>
          <p:nvPicPr>
            <p:cNvPr id="188"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189"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202" name="Group"/>
          <p:cNvGrpSpPr/>
          <p:nvPr/>
        </p:nvGrpSpPr>
        <p:grpSpPr>
          <a:xfrm>
            <a:off x="128801" y="3034862"/>
            <a:ext cx="1456736" cy="1137993"/>
            <a:chOff x="0" y="0"/>
            <a:chExt cx="1456734" cy="1137992"/>
          </a:xfrm>
        </p:grpSpPr>
        <p:sp>
          <p:nvSpPr>
            <p:cNvPr id="191"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92"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195" name="Group"/>
            <p:cNvGrpSpPr/>
            <p:nvPr/>
          </p:nvGrpSpPr>
          <p:grpSpPr>
            <a:xfrm>
              <a:off x="98270" y="517072"/>
              <a:ext cx="662039" cy="149764"/>
              <a:chOff x="0" y="0"/>
              <a:chExt cx="662038" cy="149762"/>
            </a:xfrm>
          </p:grpSpPr>
          <p:sp>
            <p:nvSpPr>
              <p:cNvPr id="193"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94"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198" name="Group"/>
            <p:cNvGrpSpPr/>
            <p:nvPr/>
          </p:nvGrpSpPr>
          <p:grpSpPr>
            <a:xfrm>
              <a:off x="98270" y="778418"/>
              <a:ext cx="620336" cy="162258"/>
              <a:chOff x="0" y="0"/>
              <a:chExt cx="620335" cy="162257"/>
            </a:xfrm>
          </p:grpSpPr>
          <p:sp>
            <p:nvSpPr>
              <p:cNvPr id="196"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197"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201" name="Group"/>
            <p:cNvGrpSpPr/>
            <p:nvPr/>
          </p:nvGrpSpPr>
          <p:grpSpPr>
            <a:xfrm>
              <a:off x="98270" y="227254"/>
              <a:ext cx="980569" cy="163196"/>
              <a:chOff x="50800" y="24178"/>
              <a:chExt cx="980568" cy="163195"/>
            </a:xfrm>
          </p:grpSpPr>
          <p:sp>
            <p:nvSpPr>
              <p:cNvPr id="199"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200"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203" name="Text"/>
          <p:cNvSpPr txBox="1"/>
          <p:nvPr/>
        </p:nvSpPr>
        <p:spPr>
          <a:xfrm>
            <a:off x="4500879" y="2437129"/>
            <a:ext cx="142241"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 </a:t>
            </a:r>
          </a:p>
        </p:txBody>
      </p:sp>
      <p:sp>
        <p:nvSpPr>
          <p:cNvPr id="204" name="Rectangle"/>
          <p:cNvSpPr/>
          <p:nvPr/>
        </p:nvSpPr>
        <p:spPr>
          <a:xfrm>
            <a:off x="4214435" y="436355"/>
            <a:ext cx="3346977" cy="802641"/>
          </a:xfrm>
          <a:prstGeom prst="rect">
            <a:avLst/>
          </a:prstGeom>
          <a:solidFill>
            <a:srgbClr val="FFFAF7"/>
          </a:solidFill>
          <a:ln w="12700">
            <a:miter lim="400000"/>
          </a:ln>
        </p:spPr>
        <p:txBody>
          <a:bodyPr lIns="45719" rIns="45719" anchor="ctr"/>
          <a:lstStyle/>
          <a:p>
            <a:pPr/>
          </a:p>
        </p:txBody>
      </p:sp>
      <p:sp>
        <p:nvSpPr>
          <p:cNvPr id="205" name="Rectangle"/>
          <p:cNvSpPr/>
          <p:nvPr/>
        </p:nvSpPr>
        <p:spPr>
          <a:xfrm>
            <a:off x="6194305" y="1612374"/>
            <a:ext cx="1245187" cy="1490982"/>
          </a:xfrm>
          <a:prstGeom prst="rect">
            <a:avLst/>
          </a:prstGeom>
          <a:solidFill>
            <a:srgbClr val="FFFAF7"/>
          </a:solidFill>
          <a:ln w="12700">
            <a:miter lim="400000"/>
          </a:ln>
        </p:spPr>
        <p:txBody>
          <a:bodyPr lIns="45719" rIns="45719" anchor="ctr"/>
          <a:lstStyle/>
          <a:p>
            <a:pPr/>
          </a:p>
        </p:txBody>
      </p:sp>
      <p:grpSp>
        <p:nvGrpSpPr>
          <p:cNvPr id="208" name="Text 5"/>
          <p:cNvGrpSpPr/>
          <p:nvPr/>
        </p:nvGrpSpPr>
        <p:grpSpPr>
          <a:xfrm>
            <a:off x="5796279" y="2776220"/>
            <a:ext cx="1783080" cy="777241"/>
            <a:chOff x="0" y="0"/>
            <a:chExt cx="1783078" cy="777240"/>
          </a:xfrm>
        </p:grpSpPr>
        <p:sp>
          <p:nvSpPr>
            <p:cNvPr id="206" name="Rectangle"/>
            <p:cNvSpPr/>
            <p:nvPr/>
          </p:nvSpPr>
          <p:spPr>
            <a:xfrm>
              <a:off x="0" y="-1"/>
              <a:ext cx="1783079"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07" name="Fishing further away from home"/>
            <p:cNvSpPr txBox="1"/>
            <p:nvPr/>
          </p:nvSpPr>
          <p:spPr>
            <a:xfrm>
              <a:off x="6350" y="238428"/>
              <a:ext cx="177037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Fishing further away from home</a:t>
              </a:r>
            </a:p>
          </p:txBody>
        </p:sp>
      </p:grpSp>
      <p:pic>
        <p:nvPicPr>
          <p:cNvPr id="209"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13"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214"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15"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216" name="Text 8"/>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Fishing far from home meant fishing in waters that weren't theirs to protect. The incentive to hold back disappeared. Now both cycles are feeding each other.</a:t>
            </a:r>
          </a:p>
        </p:txBody>
      </p:sp>
      <p:grpSp>
        <p:nvGrpSpPr>
          <p:cNvPr id="219" name="Text 2"/>
          <p:cNvGrpSpPr/>
          <p:nvPr/>
        </p:nvGrpSpPr>
        <p:grpSpPr>
          <a:xfrm>
            <a:off x="2499359" y="746759"/>
            <a:ext cx="1645922" cy="777241"/>
            <a:chOff x="0" y="0"/>
            <a:chExt cx="1645920" cy="777240"/>
          </a:xfrm>
        </p:grpSpPr>
        <p:sp>
          <p:nvSpPr>
            <p:cNvPr id="217"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18"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222" name="Text 3"/>
          <p:cNvGrpSpPr/>
          <p:nvPr/>
        </p:nvGrpSpPr>
        <p:grpSpPr>
          <a:xfrm>
            <a:off x="5547360" y="701039"/>
            <a:ext cx="1828801" cy="868682"/>
            <a:chOff x="0" y="0"/>
            <a:chExt cx="1828800" cy="868680"/>
          </a:xfrm>
        </p:grpSpPr>
        <p:sp>
          <p:nvSpPr>
            <p:cNvPr id="220" name="Oval"/>
            <p:cNvSpPr/>
            <p:nvPr/>
          </p:nvSpPr>
          <p:spPr>
            <a:xfrm>
              <a:off x="0" y="-1"/>
              <a:ext cx="1828800" cy="86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21" name="Less incentive for sustaining fishery"/>
            <p:cNvSpPr txBox="1"/>
            <p:nvPr/>
          </p:nvSpPr>
          <p:spPr>
            <a:xfrm>
              <a:off x="274171" y="28414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incentive for sustaining fishery</a:t>
              </a:r>
            </a:p>
          </p:txBody>
        </p:sp>
      </p:grpSp>
      <p:grpSp>
        <p:nvGrpSpPr>
          <p:cNvPr id="225" name="Text 4"/>
          <p:cNvGrpSpPr/>
          <p:nvPr/>
        </p:nvGrpSpPr>
        <p:grpSpPr>
          <a:xfrm>
            <a:off x="2407920" y="2707639"/>
            <a:ext cx="1828801" cy="914401"/>
            <a:chOff x="0" y="0"/>
            <a:chExt cx="1828800" cy="914400"/>
          </a:xfrm>
        </p:grpSpPr>
        <p:sp>
          <p:nvSpPr>
            <p:cNvPr id="223"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24"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228" name="Text 5"/>
          <p:cNvGrpSpPr/>
          <p:nvPr/>
        </p:nvGrpSpPr>
        <p:grpSpPr>
          <a:xfrm>
            <a:off x="5796279" y="2776220"/>
            <a:ext cx="1783080" cy="777241"/>
            <a:chOff x="0" y="0"/>
            <a:chExt cx="1783078" cy="777240"/>
          </a:xfrm>
        </p:grpSpPr>
        <p:sp>
          <p:nvSpPr>
            <p:cNvPr id="226" name="Rectangle"/>
            <p:cNvSpPr/>
            <p:nvPr/>
          </p:nvSpPr>
          <p:spPr>
            <a:xfrm>
              <a:off x="0" y="-1"/>
              <a:ext cx="1783079"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27" name="Fishing further away from home"/>
            <p:cNvSpPr txBox="1"/>
            <p:nvPr/>
          </p:nvSpPr>
          <p:spPr>
            <a:xfrm>
              <a:off x="6350" y="238428"/>
              <a:ext cx="177037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Fishing further away from home</a:t>
              </a:r>
            </a:p>
          </p:txBody>
        </p:sp>
      </p:grpSp>
      <p:grpSp>
        <p:nvGrpSpPr>
          <p:cNvPr id="231" name="Text 6"/>
          <p:cNvGrpSpPr/>
          <p:nvPr/>
        </p:nvGrpSpPr>
        <p:grpSpPr>
          <a:xfrm>
            <a:off x="4084320" y="1760220"/>
            <a:ext cx="1463041" cy="731521"/>
            <a:chOff x="0" y="0"/>
            <a:chExt cx="1463040" cy="731520"/>
          </a:xfrm>
        </p:grpSpPr>
        <p:sp>
          <p:nvSpPr>
            <p:cNvPr id="229"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30"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grpSp>
        <p:nvGrpSpPr>
          <p:cNvPr id="234" name="Group"/>
          <p:cNvGrpSpPr/>
          <p:nvPr/>
        </p:nvGrpSpPr>
        <p:grpSpPr>
          <a:xfrm>
            <a:off x="459077" y="996551"/>
            <a:ext cx="1488797" cy="1269852"/>
            <a:chOff x="0" y="0"/>
            <a:chExt cx="1488795" cy="1269851"/>
          </a:xfrm>
        </p:grpSpPr>
        <p:pic>
          <p:nvPicPr>
            <p:cNvPr id="232"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233"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246" name="Group"/>
          <p:cNvGrpSpPr/>
          <p:nvPr/>
        </p:nvGrpSpPr>
        <p:grpSpPr>
          <a:xfrm>
            <a:off x="128801" y="3034862"/>
            <a:ext cx="1456736" cy="1137993"/>
            <a:chOff x="0" y="0"/>
            <a:chExt cx="1456734" cy="1137992"/>
          </a:xfrm>
        </p:grpSpPr>
        <p:sp>
          <p:nvSpPr>
            <p:cNvPr id="235"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236"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239" name="Group"/>
            <p:cNvGrpSpPr/>
            <p:nvPr/>
          </p:nvGrpSpPr>
          <p:grpSpPr>
            <a:xfrm>
              <a:off x="98270" y="517072"/>
              <a:ext cx="662039" cy="149764"/>
              <a:chOff x="0" y="0"/>
              <a:chExt cx="662038" cy="149762"/>
            </a:xfrm>
          </p:grpSpPr>
          <p:sp>
            <p:nvSpPr>
              <p:cNvPr id="237"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238"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242" name="Group"/>
            <p:cNvGrpSpPr/>
            <p:nvPr/>
          </p:nvGrpSpPr>
          <p:grpSpPr>
            <a:xfrm>
              <a:off x="98270" y="778418"/>
              <a:ext cx="620336" cy="162258"/>
              <a:chOff x="0" y="0"/>
              <a:chExt cx="620335" cy="162257"/>
            </a:xfrm>
          </p:grpSpPr>
          <p:sp>
            <p:nvSpPr>
              <p:cNvPr id="240"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241"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245" name="Group"/>
            <p:cNvGrpSpPr/>
            <p:nvPr/>
          </p:nvGrpSpPr>
          <p:grpSpPr>
            <a:xfrm>
              <a:off x="98270" y="227254"/>
              <a:ext cx="980569" cy="163196"/>
              <a:chOff x="50800" y="24178"/>
              <a:chExt cx="980568" cy="163195"/>
            </a:xfrm>
          </p:grpSpPr>
          <p:sp>
            <p:nvSpPr>
              <p:cNvPr id="243"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244"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pic>
        <p:nvPicPr>
          <p:cNvPr id="247"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51"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252"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53"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grpSp>
        <p:nvGrpSpPr>
          <p:cNvPr id="256" name="Text 2"/>
          <p:cNvGrpSpPr/>
          <p:nvPr/>
        </p:nvGrpSpPr>
        <p:grpSpPr>
          <a:xfrm>
            <a:off x="2499359" y="746759"/>
            <a:ext cx="1645922" cy="777241"/>
            <a:chOff x="0" y="0"/>
            <a:chExt cx="1645920" cy="777240"/>
          </a:xfrm>
        </p:grpSpPr>
        <p:sp>
          <p:nvSpPr>
            <p:cNvPr id="254"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55"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259" name="Text 3"/>
          <p:cNvGrpSpPr/>
          <p:nvPr/>
        </p:nvGrpSpPr>
        <p:grpSpPr>
          <a:xfrm>
            <a:off x="5547360" y="701039"/>
            <a:ext cx="1828801" cy="868682"/>
            <a:chOff x="0" y="0"/>
            <a:chExt cx="1828800" cy="868680"/>
          </a:xfrm>
        </p:grpSpPr>
        <p:sp>
          <p:nvSpPr>
            <p:cNvPr id="257" name="Oval"/>
            <p:cNvSpPr/>
            <p:nvPr/>
          </p:nvSpPr>
          <p:spPr>
            <a:xfrm>
              <a:off x="0" y="-1"/>
              <a:ext cx="1828800" cy="86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58" name="Less incentive for sustaining fishery"/>
            <p:cNvSpPr txBox="1"/>
            <p:nvPr/>
          </p:nvSpPr>
          <p:spPr>
            <a:xfrm>
              <a:off x="274171" y="28414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incentive for sustaining fishery</a:t>
              </a:r>
            </a:p>
          </p:txBody>
        </p:sp>
      </p:grpSp>
      <p:grpSp>
        <p:nvGrpSpPr>
          <p:cNvPr id="262" name="Text 4"/>
          <p:cNvGrpSpPr/>
          <p:nvPr/>
        </p:nvGrpSpPr>
        <p:grpSpPr>
          <a:xfrm>
            <a:off x="2407920" y="2707639"/>
            <a:ext cx="1828801" cy="914401"/>
            <a:chOff x="0" y="0"/>
            <a:chExt cx="1828800" cy="914400"/>
          </a:xfrm>
        </p:grpSpPr>
        <p:sp>
          <p:nvSpPr>
            <p:cNvPr id="260"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61"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265" name="Text 5"/>
          <p:cNvGrpSpPr/>
          <p:nvPr/>
        </p:nvGrpSpPr>
        <p:grpSpPr>
          <a:xfrm>
            <a:off x="5796279" y="2776220"/>
            <a:ext cx="1783080" cy="777241"/>
            <a:chOff x="0" y="0"/>
            <a:chExt cx="1783078" cy="777240"/>
          </a:xfrm>
        </p:grpSpPr>
        <p:sp>
          <p:nvSpPr>
            <p:cNvPr id="263" name="Rectangle"/>
            <p:cNvSpPr/>
            <p:nvPr/>
          </p:nvSpPr>
          <p:spPr>
            <a:xfrm>
              <a:off x="0" y="-1"/>
              <a:ext cx="1783079"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64" name="Fishing further away from home"/>
            <p:cNvSpPr txBox="1"/>
            <p:nvPr/>
          </p:nvSpPr>
          <p:spPr>
            <a:xfrm>
              <a:off x="6350" y="238428"/>
              <a:ext cx="177037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Fishing further away from home</a:t>
              </a:r>
            </a:p>
          </p:txBody>
        </p:sp>
      </p:grpSp>
      <p:grpSp>
        <p:nvGrpSpPr>
          <p:cNvPr id="268" name="Text 6"/>
          <p:cNvGrpSpPr/>
          <p:nvPr/>
        </p:nvGrpSpPr>
        <p:grpSpPr>
          <a:xfrm>
            <a:off x="4084320" y="1760220"/>
            <a:ext cx="1463041" cy="731521"/>
            <a:chOff x="0" y="0"/>
            <a:chExt cx="1463040" cy="731520"/>
          </a:xfrm>
        </p:grpSpPr>
        <p:sp>
          <p:nvSpPr>
            <p:cNvPr id="266"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67"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sp>
        <p:nvSpPr>
          <p:cNvPr id="269" name="Text 8"/>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This is the map. Not a list of problems. A connected system. And somewhere in this system is the place where things could change.</a:t>
            </a:r>
          </a:p>
        </p:txBody>
      </p:sp>
      <p:grpSp>
        <p:nvGrpSpPr>
          <p:cNvPr id="272" name="Group"/>
          <p:cNvGrpSpPr/>
          <p:nvPr/>
        </p:nvGrpSpPr>
        <p:grpSpPr>
          <a:xfrm>
            <a:off x="459077" y="996551"/>
            <a:ext cx="1488797" cy="1269852"/>
            <a:chOff x="0" y="0"/>
            <a:chExt cx="1488795" cy="1269851"/>
          </a:xfrm>
        </p:grpSpPr>
        <p:pic>
          <p:nvPicPr>
            <p:cNvPr id="270" name="neg-lever.pngGoogle Shape;42;p3" descr="neg-lever.pngGoogle Shape;42;p3"/>
            <p:cNvPicPr>
              <a:picLocks noChangeAspect="1"/>
            </p:cNvPicPr>
            <p:nvPr/>
          </p:nvPicPr>
          <p:blipFill>
            <a:blip r:embed="rId4">
              <a:extLst/>
            </a:blip>
            <a:srcRect l="0" t="0" r="0" b="0"/>
            <a:stretch>
              <a:fillRect/>
            </a:stretch>
          </p:blipFill>
          <p:spPr>
            <a:xfrm>
              <a:off x="0" y="0"/>
              <a:ext cx="1488796" cy="1269852"/>
            </a:xfrm>
            <a:prstGeom prst="rect">
              <a:avLst/>
            </a:prstGeom>
            <a:ln w="12700" cap="flat">
              <a:noFill/>
              <a:miter lim="400000"/>
            </a:ln>
            <a:effectLst/>
          </p:spPr>
        </p:pic>
        <p:sp>
          <p:nvSpPr>
            <p:cNvPr id="271"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284" name="Group"/>
          <p:cNvGrpSpPr/>
          <p:nvPr/>
        </p:nvGrpSpPr>
        <p:grpSpPr>
          <a:xfrm>
            <a:off x="128801" y="3034862"/>
            <a:ext cx="1456736" cy="1137993"/>
            <a:chOff x="0" y="0"/>
            <a:chExt cx="1456734" cy="1137992"/>
          </a:xfrm>
        </p:grpSpPr>
        <p:sp>
          <p:nvSpPr>
            <p:cNvPr id="273"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274"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277" name="Group"/>
            <p:cNvGrpSpPr/>
            <p:nvPr/>
          </p:nvGrpSpPr>
          <p:grpSpPr>
            <a:xfrm>
              <a:off x="98270" y="517072"/>
              <a:ext cx="662039" cy="149764"/>
              <a:chOff x="0" y="0"/>
              <a:chExt cx="662038" cy="149762"/>
            </a:xfrm>
          </p:grpSpPr>
          <p:sp>
            <p:nvSpPr>
              <p:cNvPr id="275"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276"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280" name="Group"/>
            <p:cNvGrpSpPr/>
            <p:nvPr/>
          </p:nvGrpSpPr>
          <p:grpSpPr>
            <a:xfrm>
              <a:off x="98270" y="778418"/>
              <a:ext cx="620336" cy="162258"/>
              <a:chOff x="0" y="0"/>
              <a:chExt cx="620335" cy="162257"/>
            </a:xfrm>
          </p:grpSpPr>
          <p:sp>
            <p:nvSpPr>
              <p:cNvPr id="278"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j-lt"/>
                    <a:ea typeface="+mj-ea"/>
                    <a:cs typeface="+mj-cs"/>
                    <a:sym typeface="Helvetica"/>
                  </a:defRPr>
                </a:pPr>
              </a:p>
            </p:txBody>
          </p:sp>
          <p:sp>
            <p:nvSpPr>
              <p:cNvPr id="279"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283" name="Group"/>
            <p:cNvGrpSpPr/>
            <p:nvPr/>
          </p:nvGrpSpPr>
          <p:grpSpPr>
            <a:xfrm>
              <a:off x="98270" y="227254"/>
              <a:ext cx="980569" cy="163196"/>
              <a:chOff x="50800" y="24178"/>
              <a:chExt cx="980568" cy="163195"/>
            </a:xfrm>
          </p:grpSpPr>
          <p:sp>
            <p:nvSpPr>
              <p:cNvPr id="281"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282"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pic>
        <p:nvPicPr>
          <p:cNvPr id="285"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pic>
        <p:nvPicPr>
          <p:cNvPr id="286"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D5016"/>
        </a:solidFill>
      </p:bgPr>
    </p:bg>
    <p:spTree>
      <p:nvGrpSpPr>
        <p:cNvPr id="1" name=""/>
        <p:cNvGrpSpPr/>
        <p:nvPr/>
      </p:nvGrpSpPr>
      <p:grpSpPr>
        <a:xfrm>
          <a:off x="0" y="0"/>
          <a:ext cx="0" cy="0"/>
          <a:chOff x="0" y="0"/>
          <a:chExt cx="0" cy="0"/>
        </a:xfrm>
      </p:grpSpPr>
      <p:sp>
        <p:nvSpPr>
          <p:cNvPr id="290" name="Text 0"/>
          <p:cNvSpPr txBox="1"/>
          <p:nvPr/>
        </p:nvSpPr>
        <p:spPr>
          <a:xfrm>
            <a:off x="548640" y="1327149"/>
            <a:ext cx="8046719"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FFFFFF"/>
                </a:solidFill>
                <a:latin typeface="Georgia"/>
                <a:ea typeface="Georgia"/>
                <a:cs typeface="Georgia"/>
                <a:sym typeface="Georgia"/>
              </a:defRPr>
            </a:lvl1pPr>
          </a:lstStyle>
          <a:p>
            <a:pPr/>
            <a:r>
              <a:t>Rajasthan</a:t>
            </a:r>
          </a:p>
        </p:txBody>
      </p:sp>
      <p:sp>
        <p:nvSpPr>
          <p:cNvPr id="291" name="Text 1"/>
          <p:cNvSpPr txBox="1"/>
          <p:nvPr/>
        </p:nvSpPr>
        <p:spPr>
          <a:xfrm>
            <a:off x="548640" y="2011679"/>
            <a:ext cx="8046719"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2200">
                <a:solidFill>
                  <a:srgbClr val="97BC62"/>
                </a:solidFill>
                <a:latin typeface="Georgia"/>
                <a:ea typeface="Georgia"/>
                <a:cs typeface="Georgia"/>
                <a:sym typeface="Georgia"/>
              </a:defRPr>
            </a:lvl1pPr>
          </a:lstStyle>
          <a:p>
            <a:pPr/>
            <a:r>
              <a:t>Map It: Building the Map</a:t>
            </a:r>
          </a:p>
        </p:txBody>
      </p:sp>
      <p:sp>
        <p:nvSpPr>
          <p:cNvPr id="292" name="Shape 2"/>
          <p:cNvSpPr/>
          <p:nvPr/>
        </p:nvSpPr>
        <p:spPr>
          <a:xfrm>
            <a:off x="548640" y="2606039"/>
            <a:ext cx="1371601" cy="1"/>
          </a:xfrm>
          <a:prstGeom prst="line">
            <a:avLst/>
          </a:prstGeom>
          <a:ln w="19050">
            <a:solidFill>
              <a:srgbClr val="4A7C59"/>
            </a:solidFill>
          </a:ln>
        </p:spPr>
        <p:txBody>
          <a:bodyPr lIns="45719" rIns="45719"/>
          <a:lstStyle/>
          <a:p>
            <a:pPr/>
          </a:p>
        </p:txBody>
      </p:sp>
      <p:sp>
        <p:nvSpPr>
          <p:cNvPr id="293" name="Text 3"/>
          <p:cNvSpPr txBox="1"/>
          <p:nvPr/>
        </p:nvSpPr>
        <p:spPr>
          <a:xfrm>
            <a:off x="548640" y="2788920"/>
            <a:ext cx="8046719" cy="16197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spcBef>
                <a:spcPts val="400"/>
              </a:spcBef>
              <a:defRPr i="1" sz="1500">
                <a:solidFill>
                  <a:srgbClr val="D5E8D4"/>
                </a:solidFill>
                <a:latin typeface="Georgia"/>
                <a:ea typeface="Georgia"/>
                <a:cs typeface="Georgia"/>
                <a:sym typeface="Georgia"/>
              </a:defRPr>
            </a:pPr>
            <a:r>
              <a:t>Some systems are more complex.</a:t>
            </a:r>
          </a:p>
          <a:p>
            <a:pPr>
              <a:lnSpc>
                <a:spcPct val="120000"/>
              </a:lnSpc>
              <a:spcBef>
                <a:spcPts val="400"/>
              </a:spcBef>
              <a:defRPr sz="1500"/>
            </a:pPr>
          </a:p>
          <a:p>
            <a:pPr>
              <a:lnSpc>
                <a:spcPct val="120000"/>
              </a:lnSpc>
              <a:spcBef>
                <a:spcPts val="400"/>
              </a:spcBef>
              <a:defRPr i="1" sz="1500">
                <a:solidFill>
                  <a:srgbClr val="D5E8D4"/>
                </a:solidFill>
                <a:latin typeface="Georgia"/>
                <a:ea typeface="Georgia"/>
                <a:cs typeface="Georgia"/>
                <a:sym typeface="Georgia"/>
              </a:defRPr>
            </a:pPr>
            <a:r>
              <a:t>A farming community in Rajasthan watched their water disappear as the land dried out around them. What they were dealing with wasn't one loop; it was four, each one tightening the others. A map like this takes more time to build. It usually takes more voices too, because different people in the community will see different parts of it.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97" name="m12.png" descr="m12.png"/>
          <p:cNvPicPr>
            <a:picLocks noChangeAspect="1"/>
          </p:cNvPicPr>
          <p:nvPr/>
        </p:nvPicPr>
        <p:blipFill>
          <a:blip r:embed="rId3">
            <a:extLst/>
          </a:blip>
          <a:stretch>
            <a:fillRect/>
          </a:stretch>
        </p:blipFill>
        <p:spPr>
          <a:xfrm>
            <a:off x="-67698" y="121920"/>
            <a:ext cx="9076196" cy="5143501"/>
          </a:xfrm>
          <a:prstGeom prst="rect">
            <a:avLst/>
          </a:prstGeom>
          <a:ln w="12700">
            <a:miter lim="400000"/>
          </a:ln>
        </p:spPr>
      </p:pic>
      <p:sp>
        <p:nvSpPr>
          <p:cNvPr id="298"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99"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grpSp>
        <p:nvGrpSpPr>
          <p:cNvPr id="302" name="Text 2"/>
          <p:cNvGrpSpPr/>
          <p:nvPr/>
        </p:nvGrpSpPr>
        <p:grpSpPr>
          <a:xfrm>
            <a:off x="1484278" y="762445"/>
            <a:ext cx="2357066" cy="915654"/>
            <a:chOff x="0" y="0"/>
            <a:chExt cx="2357064" cy="915652"/>
          </a:xfrm>
        </p:grpSpPr>
        <p:sp>
          <p:nvSpPr>
            <p:cNvPr id="300" name="Oval"/>
            <p:cNvSpPr/>
            <p:nvPr/>
          </p:nvSpPr>
          <p:spPr>
            <a:xfrm>
              <a:off x="0" y="0"/>
              <a:ext cx="2357065" cy="91565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01" name="Less vegetation. More soil erosion and sediment flowing into ponds with rainfall runoff"/>
            <p:cNvSpPr/>
            <p:nvPr/>
          </p:nvSpPr>
          <p:spPr>
            <a:xfrm>
              <a:off x="308528" y="468480"/>
              <a:ext cx="174425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305" name="Text 3"/>
          <p:cNvGrpSpPr/>
          <p:nvPr/>
        </p:nvGrpSpPr>
        <p:grpSpPr>
          <a:xfrm>
            <a:off x="4301260" y="922019"/>
            <a:ext cx="1783081" cy="731521"/>
            <a:chOff x="0" y="0"/>
            <a:chExt cx="1783080" cy="731520"/>
          </a:xfrm>
        </p:grpSpPr>
        <p:sp>
          <p:nvSpPr>
            <p:cNvPr id="303"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04"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308" name="Text 4"/>
          <p:cNvGrpSpPr/>
          <p:nvPr/>
        </p:nvGrpSpPr>
        <p:grpSpPr>
          <a:xfrm>
            <a:off x="5985572" y="349996"/>
            <a:ext cx="1188721" cy="412528"/>
            <a:chOff x="0" y="0"/>
            <a:chExt cx="1188719" cy="412526"/>
          </a:xfrm>
        </p:grpSpPr>
        <p:sp>
          <p:nvSpPr>
            <p:cNvPr id="306"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07"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grpSp>
        <p:nvGrpSpPr>
          <p:cNvPr id="311" name="Text 5"/>
          <p:cNvGrpSpPr/>
          <p:nvPr/>
        </p:nvGrpSpPr>
        <p:grpSpPr>
          <a:xfrm>
            <a:off x="6762811" y="922019"/>
            <a:ext cx="1645922" cy="731521"/>
            <a:chOff x="0" y="0"/>
            <a:chExt cx="1645920" cy="731520"/>
          </a:xfrm>
        </p:grpSpPr>
        <p:sp>
          <p:nvSpPr>
            <p:cNvPr id="309"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0"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314" name="Text 6"/>
          <p:cNvGrpSpPr/>
          <p:nvPr/>
        </p:nvGrpSpPr>
        <p:grpSpPr>
          <a:xfrm>
            <a:off x="1588140" y="1979298"/>
            <a:ext cx="1919793" cy="933760"/>
            <a:chOff x="0" y="0"/>
            <a:chExt cx="1919792" cy="933759"/>
          </a:xfrm>
        </p:grpSpPr>
        <p:sp>
          <p:nvSpPr>
            <p:cNvPr id="312"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3"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grpSp>
        <p:nvGrpSpPr>
          <p:cNvPr id="317" name="Text 7"/>
          <p:cNvGrpSpPr/>
          <p:nvPr/>
        </p:nvGrpSpPr>
        <p:grpSpPr>
          <a:xfrm>
            <a:off x="4301260" y="1995803"/>
            <a:ext cx="1783081" cy="687074"/>
            <a:chOff x="0" y="0"/>
            <a:chExt cx="1783080" cy="687072"/>
          </a:xfrm>
        </p:grpSpPr>
        <p:sp>
          <p:nvSpPr>
            <p:cNvPr id="315"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6"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320" name="Text 8"/>
          <p:cNvGrpSpPr/>
          <p:nvPr/>
        </p:nvGrpSpPr>
        <p:grpSpPr>
          <a:xfrm>
            <a:off x="6762812" y="1930370"/>
            <a:ext cx="1828801" cy="817940"/>
            <a:chOff x="0" y="0"/>
            <a:chExt cx="1828800" cy="817939"/>
          </a:xfrm>
        </p:grpSpPr>
        <p:sp>
          <p:nvSpPr>
            <p:cNvPr id="318"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9"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323" name="Text 9"/>
          <p:cNvGrpSpPr/>
          <p:nvPr/>
        </p:nvGrpSpPr>
        <p:grpSpPr>
          <a:xfrm>
            <a:off x="1659889" y="3326345"/>
            <a:ext cx="1962901" cy="841796"/>
            <a:chOff x="0" y="0"/>
            <a:chExt cx="1962899" cy="841795"/>
          </a:xfrm>
        </p:grpSpPr>
        <p:sp>
          <p:nvSpPr>
            <p:cNvPr id="321"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22"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326" name="Text 10"/>
          <p:cNvGrpSpPr/>
          <p:nvPr/>
        </p:nvGrpSpPr>
        <p:grpSpPr>
          <a:xfrm>
            <a:off x="4301260" y="3367908"/>
            <a:ext cx="1783080" cy="686064"/>
            <a:chOff x="0" y="0"/>
            <a:chExt cx="1783078" cy="686062"/>
          </a:xfrm>
        </p:grpSpPr>
        <p:sp>
          <p:nvSpPr>
            <p:cNvPr id="324"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25"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grpSp>
        <p:nvGrpSpPr>
          <p:cNvPr id="329" name="Text 11"/>
          <p:cNvGrpSpPr/>
          <p:nvPr/>
        </p:nvGrpSpPr>
        <p:grpSpPr>
          <a:xfrm>
            <a:off x="6762812" y="3360813"/>
            <a:ext cx="1828801" cy="700254"/>
            <a:chOff x="0" y="0"/>
            <a:chExt cx="1828800" cy="700253"/>
          </a:xfrm>
        </p:grpSpPr>
        <p:sp>
          <p:nvSpPr>
            <p:cNvPr id="327"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28"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sp>
        <p:nvSpPr>
          <p:cNvPr id="330" name="Text 13"/>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The Rajasthan map has the same basic structure: causes feeding losses, losses feeding more causes. But there are more loops, and they interact. The diagram gets harder to read. That's not a problem with the diagram. That's an accurate picture of what the community was facing.</a:t>
            </a:r>
          </a:p>
        </p:txBody>
      </p:sp>
      <p:pic>
        <p:nvPicPr>
          <p:cNvPr id="331" name="neg-lever.pngGoogle Shape;42;p3" descr="neg-lever.pngGoogle Shape;42;p3"/>
          <p:cNvPicPr>
            <a:picLocks noChangeAspect="1"/>
          </p:cNvPicPr>
          <p:nvPr/>
        </p:nvPicPr>
        <p:blipFill>
          <a:blip r:embed="rId4">
            <a:extLst/>
          </a:blip>
          <a:stretch>
            <a:fillRect/>
          </a:stretch>
        </p:blipFill>
        <p:spPr>
          <a:xfrm>
            <a:off x="144117" y="1413301"/>
            <a:ext cx="1203949" cy="1026894"/>
          </a:xfrm>
          <a:prstGeom prst="rect">
            <a:avLst/>
          </a:prstGeom>
          <a:ln w="12700">
            <a:miter lim="400000"/>
          </a:ln>
        </p:spPr>
      </p:pic>
      <p:sp>
        <p:nvSpPr>
          <p:cNvPr id="332" name="Google Shape;43;p3"/>
          <p:cNvSpPr txBox="1"/>
          <p:nvPr/>
        </p:nvSpPr>
        <p:spPr>
          <a:xfrm>
            <a:off x="81952" y="1715859"/>
            <a:ext cx="1328450" cy="421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p>
            <a:pPr algn="ctr">
              <a:defRPr b="1" sz="1100">
                <a:solidFill>
                  <a:srgbClr val="FFFFFF"/>
                </a:solidFill>
                <a:latin typeface="+mj-lt"/>
                <a:ea typeface="+mj-ea"/>
                <a:cs typeface="+mj-cs"/>
                <a:sym typeface="Helvetica"/>
              </a:defRPr>
            </a:pPr>
            <a:r>
              <a:t>Logging</a:t>
            </a:r>
          </a:p>
          <a:p>
            <a:pPr algn="ctr">
              <a:defRPr b="1" sz="1100">
                <a:solidFill>
                  <a:srgbClr val="FFFFFF"/>
                </a:solidFill>
                <a:latin typeface="+mj-lt"/>
                <a:ea typeface="+mj-ea"/>
                <a:cs typeface="+mj-cs"/>
                <a:sym typeface="Helvetica"/>
              </a:defRPr>
            </a:pPr>
            <a:r>
              <a:t> the forest</a:t>
            </a:r>
          </a:p>
        </p:txBody>
      </p:sp>
      <p:pic>
        <p:nvPicPr>
          <p:cNvPr id="333"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sp>
        <p:nvSpPr>
          <p:cNvPr id="337"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Map It: Building the Map</a:t>
            </a:r>
          </a:p>
        </p:txBody>
      </p:sp>
      <p:sp>
        <p:nvSpPr>
          <p:cNvPr id="338" name="Text 1"/>
          <p:cNvSpPr txBox="1"/>
          <p:nvPr/>
        </p:nvSpPr>
        <p:spPr>
          <a:xfrm>
            <a:off x="914400" y="1135379"/>
            <a:ext cx="73152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i="1" sz="2600">
                <a:solidFill>
                  <a:srgbClr val="2D5016"/>
                </a:solidFill>
                <a:latin typeface="Georgia"/>
                <a:ea typeface="Georgia"/>
                <a:cs typeface="Georgia"/>
                <a:sym typeface="Georgia"/>
              </a:defRPr>
            </a:lvl1pPr>
          </a:lstStyle>
          <a:p>
            <a:pPr/>
            <a:r>
              <a:t>Look at what you have.</a:t>
            </a:r>
          </a:p>
        </p:txBody>
      </p:sp>
      <p:sp>
        <p:nvSpPr>
          <p:cNvPr id="339" name="Text 2"/>
          <p:cNvSpPr txBox="1"/>
          <p:nvPr/>
        </p:nvSpPr>
        <p:spPr>
          <a:xfrm>
            <a:off x="914400" y="2146300"/>
            <a:ext cx="73152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2000">
                <a:solidFill>
                  <a:srgbClr val="4A7C59"/>
                </a:solidFill>
                <a:latin typeface="Georgia"/>
                <a:ea typeface="Georgia"/>
                <a:cs typeface="Georgia"/>
                <a:sym typeface="Georgia"/>
              </a:defRPr>
            </a:lvl1pPr>
          </a:lstStyle>
          <a:p>
            <a:pPr/>
            <a:r>
              <a:t>Where do causes loop back into losses?</a:t>
            </a:r>
          </a:p>
        </p:txBody>
      </p:sp>
      <p:sp>
        <p:nvSpPr>
          <p:cNvPr id="340" name="Text 3"/>
          <p:cNvSpPr txBox="1"/>
          <p:nvPr/>
        </p:nvSpPr>
        <p:spPr>
          <a:xfrm>
            <a:off x="914400" y="2877820"/>
            <a:ext cx="73152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2000">
                <a:solidFill>
                  <a:srgbClr val="4A7C59"/>
                </a:solidFill>
                <a:latin typeface="Georgia"/>
                <a:ea typeface="Georgia"/>
                <a:cs typeface="Georgia"/>
                <a:sym typeface="Georgia"/>
              </a:defRPr>
            </a:lvl1pPr>
          </a:lstStyle>
          <a:p>
            <a:pPr/>
            <a:r>
              <a:t>Where does the system feed itself?</a:t>
            </a:r>
          </a:p>
        </p:txBody>
      </p:sp>
      <p:sp>
        <p:nvSpPr>
          <p:cNvPr id="341" name="Text 4"/>
          <p:cNvSpPr txBox="1"/>
          <p:nvPr/>
        </p:nvSpPr>
        <p:spPr>
          <a:xfrm>
            <a:off x="914400" y="3751580"/>
            <a:ext cx="731520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D5016"/>
                </a:solidFill>
                <a:latin typeface="Georgia"/>
                <a:ea typeface="Georgia"/>
                <a:cs typeface="Georgia"/>
                <a:sym typeface="Georgia"/>
              </a:defRPr>
            </a:lvl1pPr>
          </a:lstStyle>
          <a:p>
            <a:pPr/>
            <a:r>
              <a:t>That's where the lever is likely to be, and in our next session, we’ll try to find it.</a:t>
            </a:r>
          </a:p>
        </p:txBody>
      </p:sp>
      <p:pic>
        <p:nvPicPr>
          <p:cNvPr id="342" name="ETP_Logo.svg" descr="ETP_Logo.svg"/>
          <p:cNvPicPr>
            <a:picLocks noChangeAspect="1"/>
          </p:cNvPicPr>
          <p:nvPr/>
        </p:nvPicPr>
        <p:blipFill>
          <a:blip r:embed="rId3">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